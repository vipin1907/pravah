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Barlow Condensed Semi-Bold" panose="020B0604020202020204" charset="0"/>
      <p:regular r:id="rId13"/>
    </p:embeddedFont>
    <p:embeddedFont>
      <p:font typeface="Barlow Condensed Semi-Bold Italics" panose="020B0604020202020204" charset="0"/>
      <p:regular r:id="rId14"/>
    </p:embeddedFont>
    <p:embeddedFont>
      <p:font typeface="Garamond Bold" panose="02020804030307010803" pitchFamily="18" charset="0"/>
      <p:regular r:id="rId15"/>
      <p:bold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Montserrat Bold" panose="020B0604020202020204" charset="0"/>
      <p:regular r:id="rId19"/>
    </p:embeddedFont>
    <p:embeddedFont>
      <p:font typeface="Oswald Bold" panose="020B0604020202020204" charset="0"/>
      <p:regular r:id="rId20"/>
    </p:embeddedFont>
    <p:embeddedFont>
      <p:font typeface="Roboto" panose="02000000000000000000" pitchFamily="2" charset="0"/>
      <p:regular r:id="rId21"/>
    </p:embeddedFont>
    <p:embeddedFont>
      <p:font typeface="Roboto Bold" panose="020B0604020202020204" charset="0"/>
      <p:regular r:id="rId22"/>
    </p:embeddedFont>
    <p:embeddedFont>
      <p:font typeface="Shantell Sans Bold" panose="020B0604020202020204" charset="0"/>
      <p:regular r:id="rId23"/>
    </p:embeddedFont>
    <p:embeddedFont>
      <p:font typeface="Times New Roman Bold" panose="02020803070505020304" pitchFamily="18" charset="0"/>
      <p:regular r:id="rId24"/>
      <p:bold r:id="rId25"/>
    </p:embeddedFont>
    <p:embeddedFont>
      <p:font typeface="Times New Roman MT" panose="020B0604020202020204" charset="0"/>
      <p:regular r:id="rId26"/>
    </p:embeddedFont>
    <p:embeddedFont>
      <p:font typeface="Times New Roman MT Bold" panose="020B0604020202020204" charset="0"/>
      <p:regular r:id="rId27"/>
    </p:embeddedFont>
    <p:embeddedFont>
      <p:font typeface="Times New Roman MT Medium" panose="020B0604020202020204" charset="0"/>
      <p:regular r:id="rId28"/>
    </p:embeddedFont>
    <p:embeddedFont>
      <p:font typeface="Waterlily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presProps" Target="presProps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5.png"/><Relationship Id="rId21" Type="http://schemas.openxmlformats.org/officeDocument/2006/relationships/image" Target="../media/image21.png"/><Relationship Id="rId7" Type="http://schemas.openxmlformats.org/officeDocument/2006/relationships/image" Target="../media/image4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7.jpe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8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6.png"/><Relationship Id="rId21" Type="http://schemas.openxmlformats.org/officeDocument/2006/relationships/hyperlink" Target="https://pravah-ai.onrender.com" TargetMode="External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4.png"/><Relationship Id="rId15" Type="http://schemas.openxmlformats.org/officeDocument/2006/relationships/image" Target="../media/image43.png"/><Relationship Id="rId23" Type="http://schemas.openxmlformats.org/officeDocument/2006/relationships/image" Target="../media/image50.png"/><Relationship Id="rId10" Type="http://schemas.openxmlformats.org/officeDocument/2006/relationships/image" Target="../media/image38.png"/><Relationship Id="rId19" Type="http://schemas.openxmlformats.org/officeDocument/2006/relationships/image" Target="../media/image47.jpeg"/><Relationship Id="rId4" Type="http://schemas.openxmlformats.org/officeDocument/2006/relationships/image" Target="../media/image3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sv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11" Type="http://schemas.openxmlformats.org/officeDocument/2006/relationships/image" Target="../media/image59.png"/><Relationship Id="rId5" Type="http://schemas.openxmlformats.org/officeDocument/2006/relationships/image" Target="../media/image4.png"/><Relationship Id="rId10" Type="http://schemas.openxmlformats.org/officeDocument/2006/relationships/image" Target="../media/image58.jpeg"/><Relationship Id="rId4" Type="http://schemas.openxmlformats.org/officeDocument/2006/relationships/image" Target="../media/image54.svg"/><Relationship Id="rId9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18" Type="http://schemas.openxmlformats.org/officeDocument/2006/relationships/image" Target="../media/image74.svg"/><Relationship Id="rId26" Type="http://schemas.openxmlformats.org/officeDocument/2006/relationships/image" Target="../media/image82.svg"/><Relationship Id="rId3" Type="http://schemas.openxmlformats.org/officeDocument/2006/relationships/image" Target="../media/image3.jpe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svg"/><Relationship Id="rId25" Type="http://schemas.openxmlformats.org/officeDocument/2006/relationships/image" Target="../media/image81.svg"/><Relationship Id="rId3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29" Type="http://schemas.openxmlformats.org/officeDocument/2006/relationships/image" Target="../media/image8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svg"/><Relationship Id="rId32" Type="http://schemas.openxmlformats.org/officeDocument/2006/relationships/image" Target="../media/image88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svg"/><Relationship Id="rId28" Type="http://schemas.openxmlformats.org/officeDocument/2006/relationships/image" Target="../media/image84.svg"/><Relationship Id="rId10" Type="http://schemas.openxmlformats.org/officeDocument/2006/relationships/image" Target="../media/image66.png"/><Relationship Id="rId19" Type="http://schemas.openxmlformats.org/officeDocument/2006/relationships/image" Target="../media/image75.svg"/><Relationship Id="rId31" Type="http://schemas.openxmlformats.org/officeDocument/2006/relationships/image" Target="../media/image87.svg"/><Relationship Id="rId4" Type="http://schemas.openxmlformats.org/officeDocument/2006/relationships/image" Target="../media/image4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svg"/><Relationship Id="rId27" Type="http://schemas.openxmlformats.org/officeDocument/2006/relationships/image" Target="../media/image83.svg"/><Relationship Id="rId30" Type="http://schemas.openxmlformats.org/officeDocument/2006/relationships/image" Target="../media/image86.svg"/><Relationship Id="rId8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8-025-27225-0" TargetMode="External"/><Relationship Id="rId13" Type="http://schemas.openxmlformats.org/officeDocument/2006/relationships/hyperlink" Target="https://doi.org/10.1145/2939672.2939785" TargetMode="External"/><Relationship Id="rId18" Type="http://schemas.openxmlformats.org/officeDocument/2006/relationships/hyperlink" Target="https://bhuvan.nrsc.gov.in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www.business-standard.com/india-news/flash-floods-is-india-ready-with-an-early-disaster-warning-system-125071500939_1.html" TargetMode="External"/><Relationship Id="rId12" Type="http://schemas.openxmlformats.org/officeDocument/2006/relationships/hyperlink" Target="https://doi.org/10.3390/a18110713" TargetMode="External"/><Relationship Id="rId17" Type="http://schemas.openxmlformats.org/officeDocument/2006/relationships/hyperlink" Target="https://mausam.imd.gov.in" TargetMode="External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www.preventionweb.net/publication/review-flash-floods-management-hydrological-modeling-crisis-managemen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ndiaspend.com/explainers/why-indias-early-warning-systems-for-floods-and-cyclones-fall-short-825110" TargetMode="External"/><Relationship Id="rId11" Type="http://schemas.openxmlformats.org/officeDocument/2006/relationships/hyperlink" Target="https://egusphere.copernicus.org/preprints/2026/egusphere-2026-1591/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doi.org/10.1029/2005RG000183" TargetMode="External"/><Relationship Id="rId10" Type="http://schemas.openxmlformats.org/officeDocument/2006/relationships/hyperlink" Target="https://ndrf.gov.in/en/operations/floods-2023" TargetMode="External"/><Relationship Id="rId19" Type="http://schemas.openxmlformats.org/officeDocument/2006/relationships/hyperlink" Target="https://ndma.gov.in" TargetMode="External"/><Relationship Id="rId4" Type="http://schemas.openxmlformats.org/officeDocument/2006/relationships/image" Target="../media/image3.jpeg"/><Relationship Id="rId9" Type="http://schemas.openxmlformats.org/officeDocument/2006/relationships/hyperlink" Target="https://www.nature.com/articles/s41598-025-92739-6" TargetMode="External"/><Relationship Id="rId14" Type="http://schemas.openxmlformats.org/officeDocument/2006/relationships/hyperlink" Target="https://arxiv.org/abs/1705.0787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87652" y="1872130"/>
            <a:ext cx="6957908" cy="7732452"/>
            <a:chOff x="0" y="0"/>
            <a:chExt cx="9277210" cy="10309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77210" cy="10309936"/>
            </a:xfrm>
            <a:custGeom>
              <a:avLst/>
              <a:gdLst/>
              <a:ahLst/>
              <a:cxnLst/>
              <a:rect l="l" t="t" r="r" b="b"/>
              <a:pathLst>
                <a:path w="9277210" h="10309936">
                  <a:moveTo>
                    <a:pt x="0" y="0"/>
                  </a:moveTo>
                  <a:lnTo>
                    <a:pt x="9277210" y="0"/>
                  </a:lnTo>
                  <a:lnTo>
                    <a:pt x="9277210" y="10309936"/>
                  </a:lnTo>
                  <a:lnTo>
                    <a:pt x="0" y="1030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2396223" y="1728711"/>
              <a:ext cx="6407023" cy="6852476"/>
              <a:chOff x="0" y="0"/>
              <a:chExt cx="6407023" cy="685247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407023" cy="6852412"/>
              </a:xfrm>
              <a:custGeom>
                <a:avLst/>
                <a:gdLst/>
                <a:ahLst/>
                <a:cxnLst/>
                <a:rect l="l" t="t" r="r" b="b"/>
                <a:pathLst>
                  <a:path w="6407023" h="6852412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149475" b="-1"/>
                </a:stretch>
              </a:blipFill>
            </p:spPr>
          </p:sp>
        </p:grpSp>
      </p:grpSp>
      <p:sp>
        <p:nvSpPr>
          <p:cNvPr id="6" name="TextBox 6"/>
          <p:cNvSpPr txBox="1"/>
          <p:nvPr/>
        </p:nvSpPr>
        <p:spPr>
          <a:xfrm>
            <a:off x="288708" y="1610163"/>
            <a:ext cx="17710584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Flash Flood Prediction System for Hilly Regions using Multi-Source Data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00220" y="-835296"/>
            <a:ext cx="15544800" cy="3114675"/>
            <a:chOff x="0" y="0"/>
            <a:chExt cx="20726400" cy="4152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09595" y="0"/>
            <a:ext cx="2789697" cy="1317242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88708" y="2440467"/>
            <a:ext cx="11390038" cy="716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</a:pPr>
            <a:endParaRPr/>
          </a:p>
          <a:p>
            <a:pPr marL="585045" lvl="1" indent="-292523" algn="just">
              <a:lnSpc>
                <a:spcPts val="7758"/>
              </a:lnSpc>
              <a:buFont typeface="Arial"/>
              <a:buChar char="•"/>
            </a:pPr>
            <a:r>
              <a:rPr lang="en-US" sz="323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 ID – </a:t>
            </a:r>
            <a:r>
              <a:rPr lang="en-US" sz="32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26192</a:t>
            </a:r>
          </a:p>
          <a:p>
            <a:pPr marL="585045" lvl="1" indent="-292523" algn="just">
              <a:lnSpc>
                <a:spcPts val="7790"/>
              </a:lnSpc>
              <a:buFont typeface="Arial"/>
              <a:buChar char="•"/>
            </a:pPr>
            <a:r>
              <a:rPr lang="en-US" sz="323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 Title – </a:t>
            </a:r>
            <a:r>
              <a:rPr lang="en-US" sz="32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Flash Flood Prediction System for Hilly Regions using Multi-Source Data</a:t>
            </a:r>
          </a:p>
          <a:p>
            <a:pPr marL="585045" lvl="1" indent="-292523" algn="just">
              <a:lnSpc>
                <a:spcPts val="7758"/>
              </a:lnSpc>
              <a:buFont typeface="Arial"/>
              <a:buChar char="•"/>
            </a:pPr>
            <a:r>
              <a:rPr lang="en-US" sz="323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Theme –  </a:t>
            </a:r>
            <a:r>
              <a:rPr lang="en-US" sz="32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Disaster Management </a:t>
            </a:r>
          </a:p>
          <a:p>
            <a:pPr marL="585045" lvl="1" indent="-292523" algn="just">
              <a:lnSpc>
                <a:spcPts val="7758"/>
              </a:lnSpc>
              <a:buFont typeface="Arial"/>
              <a:buChar char="•"/>
            </a:pPr>
            <a:r>
              <a:rPr lang="en-US" sz="323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Category- </a:t>
            </a:r>
            <a:r>
              <a:rPr lang="en-US" sz="32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Software</a:t>
            </a:r>
          </a:p>
          <a:p>
            <a:pPr marL="585045" lvl="1" indent="-292523" algn="just">
              <a:lnSpc>
                <a:spcPts val="7758"/>
              </a:lnSpc>
              <a:buFont typeface="Arial"/>
              <a:buChar char="•"/>
            </a:pPr>
            <a:r>
              <a:rPr lang="en-US" sz="323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ID –</a:t>
            </a:r>
          </a:p>
          <a:p>
            <a:pPr marL="585045" lvl="1" indent="-292523" algn="just">
              <a:lnSpc>
                <a:spcPts val="7758"/>
              </a:lnSpc>
              <a:buFont typeface="Arial"/>
              <a:buChar char="•"/>
            </a:pPr>
            <a:r>
              <a:rPr lang="en-US" sz="3232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 – INTELLIVERSE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38077" y="5657450"/>
            <a:ext cx="11488383" cy="4081862"/>
          </a:xfrm>
          <a:custGeom>
            <a:avLst/>
            <a:gdLst/>
            <a:ahLst/>
            <a:cxnLst/>
            <a:rect l="l" t="t" r="r" b="b"/>
            <a:pathLst>
              <a:path w="11488383" h="4081862">
                <a:moveTo>
                  <a:pt x="0" y="0"/>
                </a:moveTo>
                <a:lnTo>
                  <a:pt x="11488383" y="0"/>
                </a:lnTo>
                <a:lnTo>
                  <a:pt x="11488383" y="4081862"/>
                </a:lnTo>
                <a:lnTo>
                  <a:pt x="0" y="4081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-769" t="-4229" b="-9288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285331" y="5706546"/>
            <a:ext cx="5879253" cy="3984837"/>
            <a:chOff x="0" y="0"/>
            <a:chExt cx="1548445" cy="10495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48445" cy="1049504"/>
            </a:xfrm>
            <a:custGeom>
              <a:avLst/>
              <a:gdLst/>
              <a:ahLst/>
              <a:cxnLst/>
              <a:rect l="l" t="t" r="r" b="b"/>
              <a:pathLst>
                <a:path w="1548445" h="1049504">
                  <a:moveTo>
                    <a:pt x="15802" y="0"/>
                  </a:moveTo>
                  <a:lnTo>
                    <a:pt x="1532643" y="0"/>
                  </a:lnTo>
                  <a:cubicBezTo>
                    <a:pt x="1536834" y="0"/>
                    <a:pt x="1540854" y="1665"/>
                    <a:pt x="1543817" y="4628"/>
                  </a:cubicBezTo>
                  <a:cubicBezTo>
                    <a:pt x="1546780" y="7592"/>
                    <a:pt x="1548445" y="11611"/>
                    <a:pt x="1548445" y="15802"/>
                  </a:cubicBezTo>
                  <a:lnTo>
                    <a:pt x="1548445" y="1033703"/>
                  </a:lnTo>
                  <a:cubicBezTo>
                    <a:pt x="1548445" y="1042430"/>
                    <a:pt x="1541370" y="1049504"/>
                    <a:pt x="1532643" y="1049504"/>
                  </a:cubicBezTo>
                  <a:lnTo>
                    <a:pt x="15802" y="1049504"/>
                  </a:lnTo>
                  <a:cubicBezTo>
                    <a:pt x="7075" y="1049504"/>
                    <a:pt x="0" y="1042430"/>
                    <a:pt x="0" y="1033703"/>
                  </a:cubicBezTo>
                  <a:lnTo>
                    <a:pt x="0" y="15802"/>
                  </a:lnTo>
                  <a:cubicBezTo>
                    <a:pt x="0" y="7075"/>
                    <a:pt x="7075" y="0"/>
                    <a:pt x="15802" y="0"/>
                  </a:cubicBezTo>
                  <a:close/>
                </a:path>
              </a:pathLst>
            </a:custGeom>
            <a:solidFill>
              <a:srgbClr val="0F52AD">
                <a:alpha val="392"/>
              </a:srgbClr>
            </a:solidFill>
            <a:ln w="19050" cap="sq">
              <a:solidFill>
                <a:srgbClr val="0054B7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548445" cy="1068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29549" y="5312656"/>
            <a:ext cx="19062462" cy="7249314"/>
          </a:xfrm>
          <a:custGeom>
            <a:avLst/>
            <a:gdLst/>
            <a:ahLst/>
            <a:cxnLst/>
            <a:rect l="l" t="t" r="r" b="b"/>
            <a:pathLst>
              <a:path w="19062462" h="7249314">
                <a:moveTo>
                  <a:pt x="0" y="0"/>
                </a:moveTo>
                <a:lnTo>
                  <a:pt x="19062462" y="0"/>
                </a:lnTo>
                <a:lnTo>
                  <a:pt x="19062462" y="7249314"/>
                </a:lnTo>
                <a:lnTo>
                  <a:pt x="0" y="7249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</a:blip>
            <a:stretch>
              <a:fillRect l="-423" t="-210" r="-423" b="-13819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4507" y="5204764"/>
            <a:ext cx="7695897" cy="4446350"/>
            <a:chOff x="0" y="0"/>
            <a:chExt cx="2026903" cy="11710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26903" cy="1171055"/>
            </a:xfrm>
            <a:custGeom>
              <a:avLst/>
              <a:gdLst/>
              <a:ahLst/>
              <a:cxnLst/>
              <a:rect l="l" t="t" r="r" b="b"/>
              <a:pathLst>
                <a:path w="2026903" h="1171055">
                  <a:moveTo>
                    <a:pt x="12072" y="0"/>
                  </a:moveTo>
                  <a:lnTo>
                    <a:pt x="2014831" y="0"/>
                  </a:lnTo>
                  <a:cubicBezTo>
                    <a:pt x="2021498" y="0"/>
                    <a:pt x="2026903" y="5405"/>
                    <a:pt x="2026903" y="12072"/>
                  </a:cubicBezTo>
                  <a:lnTo>
                    <a:pt x="2026903" y="1158984"/>
                  </a:lnTo>
                  <a:cubicBezTo>
                    <a:pt x="2026903" y="1165651"/>
                    <a:pt x="2021498" y="1171055"/>
                    <a:pt x="2014831" y="1171055"/>
                  </a:cubicBezTo>
                  <a:lnTo>
                    <a:pt x="12072" y="1171055"/>
                  </a:lnTo>
                  <a:cubicBezTo>
                    <a:pt x="5405" y="1171055"/>
                    <a:pt x="0" y="1165651"/>
                    <a:pt x="0" y="1158984"/>
                  </a:cubicBezTo>
                  <a:lnTo>
                    <a:pt x="0" y="12072"/>
                  </a:lnTo>
                  <a:cubicBezTo>
                    <a:pt x="0" y="5405"/>
                    <a:pt x="5405" y="0"/>
                    <a:pt x="12072" y="0"/>
                  </a:cubicBezTo>
                  <a:close/>
                </a:path>
              </a:pathLst>
            </a:custGeom>
            <a:solidFill>
              <a:srgbClr val="CEE6EB">
                <a:alpha val="6275"/>
              </a:srgbClr>
            </a:solidFill>
            <a:ln w="19050" cap="sq">
              <a:solidFill>
                <a:srgbClr val="0054B7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26903" cy="1190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9739312"/>
            <a:ext cx="18288000" cy="523571"/>
            <a:chOff x="0" y="0"/>
            <a:chExt cx="24384000" cy="6980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698094"/>
            </a:xfrm>
            <a:custGeom>
              <a:avLst/>
              <a:gdLst/>
              <a:ahLst/>
              <a:cxnLst/>
              <a:rect l="l" t="t" r="r" b="b"/>
              <a:pathLst>
                <a:path w="24384000" h="698094">
                  <a:moveTo>
                    <a:pt x="0" y="0"/>
                  </a:moveTo>
                  <a:lnTo>
                    <a:pt x="24384000" y="0"/>
                  </a:lnTo>
                  <a:lnTo>
                    <a:pt x="24384000" y="698094"/>
                  </a:lnTo>
                  <a:lnTo>
                    <a:pt x="0" y="698094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950133" y="-720145"/>
            <a:ext cx="12861722" cy="2587056"/>
            <a:chOff x="0" y="0"/>
            <a:chExt cx="16362800" cy="32912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362800" cy="3291276"/>
            </a:xfrm>
            <a:custGeom>
              <a:avLst/>
              <a:gdLst/>
              <a:ahLst/>
              <a:cxnLst/>
              <a:rect l="l" t="t" r="r" b="b"/>
              <a:pathLst>
                <a:path w="16362800" h="3291276">
                  <a:moveTo>
                    <a:pt x="0" y="0"/>
                  </a:moveTo>
                  <a:lnTo>
                    <a:pt x="16362800" y="0"/>
                  </a:lnTo>
                  <a:lnTo>
                    <a:pt x="16362800" y="3291276"/>
                  </a:lnTo>
                  <a:lnTo>
                    <a:pt x="0" y="3291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8204" b="-11820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6362800" cy="3319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360"/>
                </a:lnSpc>
              </a:pPr>
              <a:endParaRPr/>
            </a:p>
            <a:p>
              <a:pPr algn="ctr">
                <a:lnSpc>
                  <a:spcPts val="5640"/>
                </a:lnSpc>
              </a:pPr>
              <a:r>
                <a:rPr lang="en-US" sz="47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Pravah AI : Flash Flood Prediction System for Hilly Regions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91357" y="9739312"/>
            <a:ext cx="4267200" cy="547688"/>
            <a:chOff x="0" y="0"/>
            <a:chExt cx="5689600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60823" y="9691383"/>
            <a:ext cx="4806001" cy="547688"/>
            <a:chOff x="0" y="0"/>
            <a:chExt cx="6408001" cy="7302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959915" y="133362"/>
            <a:ext cx="2160879" cy="1020326"/>
            <a:chOff x="0" y="0"/>
            <a:chExt cx="4499699" cy="2124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64507" y="2029822"/>
            <a:ext cx="6345149" cy="2908242"/>
            <a:chOff x="0" y="0"/>
            <a:chExt cx="1671150" cy="7659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71150" cy="765957"/>
            </a:xfrm>
            <a:custGeom>
              <a:avLst/>
              <a:gdLst/>
              <a:ahLst/>
              <a:cxnLst/>
              <a:rect l="l" t="t" r="r" b="b"/>
              <a:pathLst>
                <a:path w="1671150" h="765957">
                  <a:moveTo>
                    <a:pt x="14642" y="0"/>
                  </a:moveTo>
                  <a:lnTo>
                    <a:pt x="1656509" y="0"/>
                  </a:lnTo>
                  <a:cubicBezTo>
                    <a:pt x="1664595" y="0"/>
                    <a:pt x="1671150" y="6555"/>
                    <a:pt x="1671150" y="14642"/>
                  </a:cubicBezTo>
                  <a:lnTo>
                    <a:pt x="1671150" y="751315"/>
                  </a:lnTo>
                  <a:cubicBezTo>
                    <a:pt x="1671150" y="755198"/>
                    <a:pt x="1669608" y="758922"/>
                    <a:pt x="1666862" y="761668"/>
                  </a:cubicBezTo>
                  <a:cubicBezTo>
                    <a:pt x="1664116" y="764414"/>
                    <a:pt x="1660392" y="765957"/>
                    <a:pt x="1656509" y="765957"/>
                  </a:cubicBezTo>
                  <a:lnTo>
                    <a:pt x="14642" y="765957"/>
                  </a:lnTo>
                  <a:cubicBezTo>
                    <a:pt x="10758" y="765957"/>
                    <a:pt x="7034" y="764414"/>
                    <a:pt x="4288" y="761668"/>
                  </a:cubicBezTo>
                  <a:cubicBezTo>
                    <a:pt x="1543" y="758922"/>
                    <a:pt x="0" y="755198"/>
                    <a:pt x="0" y="751315"/>
                  </a:cubicBezTo>
                  <a:lnTo>
                    <a:pt x="0" y="14642"/>
                  </a:lnTo>
                  <a:cubicBezTo>
                    <a:pt x="0" y="10758"/>
                    <a:pt x="1543" y="7034"/>
                    <a:pt x="4288" y="4288"/>
                  </a:cubicBezTo>
                  <a:cubicBezTo>
                    <a:pt x="7034" y="1543"/>
                    <a:pt x="10758" y="0"/>
                    <a:pt x="14642" y="0"/>
                  </a:cubicBezTo>
                  <a:close/>
                </a:path>
              </a:pathLst>
            </a:custGeom>
            <a:solidFill>
              <a:srgbClr val="0F52AD">
                <a:alpha val="0"/>
              </a:srgbClr>
            </a:solidFill>
            <a:ln w="9525" cap="sq">
              <a:solidFill>
                <a:srgbClr val="0054B7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671150" cy="785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7098515" y="1990736"/>
            <a:ext cx="6145677" cy="412883"/>
          </a:xfrm>
          <a:custGeom>
            <a:avLst/>
            <a:gdLst/>
            <a:ahLst/>
            <a:cxnLst/>
            <a:rect l="l" t="t" r="r" b="b"/>
            <a:pathLst>
              <a:path w="6145677" h="412883">
                <a:moveTo>
                  <a:pt x="0" y="0"/>
                </a:moveTo>
                <a:lnTo>
                  <a:pt x="6145677" y="0"/>
                </a:lnTo>
                <a:lnTo>
                  <a:pt x="6145677" y="412883"/>
                </a:lnTo>
                <a:lnTo>
                  <a:pt x="0" y="4128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780" b="-1780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7328318" y="2054475"/>
            <a:ext cx="5612532" cy="222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3"/>
              </a:lnSpc>
            </a:pPr>
            <a:r>
              <a:rPr lang="en-US" sz="135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IDEA'S PROCESS FLOW (AT A GLANCE)</a:t>
            </a:r>
          </a:p>
        </p:txBody>
      </p:sp>
      <p:sp>
        <p:nvSpPr>
          <p:cNvPr id="28" name="Freeform 28"/>
          <p:cNvSpPr/>
          <p:nvPr/>
        </p:nvSpPr>
        <p:spPr>
          <a:xfrm>
            <a:off x="6634690" y="2396621"/>
            <a:ext cx="1391474" cy="1658531"/>
          </a:xfrm>
          <a:custGeom>
            <a:avLst/>
            <a:gdLst/>
            <a:ahLst/>
            <a:cxnLst/>
            <a:rect l="l" t="t" r="r" b="b"/>
            <a:pathLst>
              <a:path w="1391474" h="1658531">
                <a:moveTo>
                  <a:pt x="0" y="0"/>
                </a:moveTo>
                <a:lnTo>
                  <a:pt x="1391474" y="0"/>
                </a:lnTo>
                <a:lnTo>
                  <a:pt x="1391474" y="1658531"/>
                </a:lnTo>
                <a:lnTo>
                  <a:pt x="0" y="16585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780" b="-1780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982559" y="2501591"/>
            <a:ext cx="811693" cy="622824"/>
          </a:xfrm>
          <a:custGeom>
            <a:avLst/>
            <a:gdLst/>
            <a:ahLst/>
            <a:cxnLst/>
            <a:rect l="l" t="t" r="r" b="b"/>
            <a:pathLst>
              <a:path w="811693" h="622824">
                <a:moveTo>
                  <a:pt x="0" y="0"/>
                </a:moveTo>
                <a:lnTo>
                  <a:pt x="811693" y="0"/>
                </a:lnTo>
                <a:lnTo>
                  <a:pt x="811693" y="622824"/>
                </a:lnTo>
                <a:lnTo>
                  <a:pt x="0" y="6228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780" b="-1780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6852436" y="3153379"/>
            <a:ext cx="1004896" cy="18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sz="1039" b="1">
                <a:solidFill>
                  <a:srgbClr val="0066D6"/>
                </a:solidFill>
                <a:latin typeface="Roboto Bold"/>
                <a:ea typeface="Roboto Bold"/>
                <a:cs typeface="Roboto Bold"/>
                <a:sym typeface="Roboto Bold"/>
              </a:rPr>
              <a:t>RAINFALL DATA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56917" y="3435735"/>
            <a:ext cx="81136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6"/>
              </a:lnSpc>
            </a:pPr>
            <a:r>
              <a:rPr lang="en-US" sz="12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IMD, CWC AND NBDI.</a:t>
            </a:r>
          </a:p>
        </p:txBody>
      </p:sp>
      <p:sp>
        <p:nvSpPr>
          <p:cNvPr id="32" name="Freeform 32"/>
          <p:cNvSpPr/>
          <p:nvPr/>
        </p:nvSpPr>
        <p:spPr>
          <a:xfrm>
            <a:off x="7910208" y="2396621"/>
            <a:ext cx="1391474" cy="1658531"/>
          </a:xfrm>
          <a:custGeom>
            <a:avLst/>
            <a:gdLst/>
            <a:ahLst/>
            <a:cxnLst/>
            <a:rect l="l" t="t" r="r" b="b"/>
            <a:pathLst>
              <a:path w="1391474" h="1658531">
                <a:moveTo>
                  <a:pt x="0" y="0"/>
                </a:moveTo>
                <a:lnTo>
                  <a:pt x="1391474" y="0"/>
                </a:lnTo>
                <a:lnTo>
                  <a:pt x="1391474" y="1658531"/>
                </a:lnTo>
                <a:lnTo>
                  <a:pt x="0" y="16585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780" b="-1780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258076" y="2501591"/>
            <a:ext cx="811693" cy="622824"/>
          </a:xfrm>
          <a:custGeom>
            <a:avLst/>
            <a:gdLst/>
            <a:ahLst/>
            <a:cxnLst/>
            <a:rect l="l" t="t" r="r" b="b"/>
            <a:pathLst>
              <a:path w="811693" h="622824">
                <a:moveTo>
                  <a:pt x="0" y="0"/>
                </a:moveTo>
                <a:lnTo>
                  <a:pt x="811694" y="0"/>
                </a:lnTo>
                <a:lnTo>
                  <a:pt x="811694" y="622824"/>
                </a:lnTo>
                <a:lnTo>
                  <a:pt x="0" y="622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1780" b="-1780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8136302" y="3156547"/>
            <a:ext cx="1004896" cy="17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9"/>
              </a:lnSpc>
            </a:pPr>
            <a:r>
              <a:rPr lang="en-US" sz="1013" b="1">
                <a:solidFill>
                  <a:srgbClr val="0066D6"/>
                </a:solidFill>
                <a:latin typeface="Roboto Bold"/>
                <a:ea typeface="Roboto Bold"/>
                <a:cs typeface="Roboto Bold"/>
                <a:sym typeface="Roboto Bold"/>
              </a:rPr>
              <a:t>SOIL MOISTURE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50477" y="3390330"/>
            <a:ext cx="1090722" cy="376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</a:pPr>
            <a:r>
              <a:rPr lang="en-US" sz="122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Historical soil moisture data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01682" y="2396621"/>
            <a:ext cx="1391474" cy="1658531"/>
          </a:xfrm>
          <a:custGeom>
            <a:avLst/>
            <a:gdLst/>
            <a:ahLst/>
            <a:cxnLst/>
            <a:rect l="l" t="t" r="r" b="b"/>
            <a:pathLst>
              <a:path w="1391474" h="1658531">
                <a:moveTo>
                  <a:pt x="0" y="0"/>
                </a:moveTo>
                <a:lnTo>
                  <a:pt x="1391474" y="0"/>
                </a:lnTo>
                <a:lnTo>
                  <a:pt x="1391474" y="1658531"/>
                </a:lnTo>
                <a:lnTo>
                  <a:pt x="0" y="165853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780" b="-1780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9533594" y="2501591"/>
            <a:ext cx="811693" cy="622824"/>
          </a:xfrm>
          <a:custGeom>
            <a:avLst/>
            <a:gdLst/>
            <a:ahLst/>
            <a:cxnLst/>
            <a:rect l="l" t="t" r="r" b="b"/>
            <a:pathLst>
              <a:path w="811693" h="622824">
                <a:moveTo>
                  <a:pt x="0" y="0"/>
                </a:moveTo>
                <a:lnTo>
                  <a:pt x="811694" y="0"/>
                </a:lnTo>
                <a:lnTo>
                  <a:pt x="811694" y="622824"/>
                </a:lnTo>
                <a:lnTo>
                  <a:pt x="0" y="62282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780" b="-1780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419877" y="3156547"/>
            <a:ext cx="1101664" cy="17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9"/>
              </a:lnSpc>
            </a:pPr>
            <a:r>
              <a:rPr lang="en-US" sz="1013" b="1">
                <a:solidFill>
                  <a:srgbClr val="5B2A1C"/>
                </a:solidFill>
                <a:latin typeface="Roboto Bold"/>
                <a:ea typeface="Roboto Bold"/>
                <a:cs typeface="Roboto Bold"/>
                <a:sym typeface="Roboto Bold"/>
              </a:rPr>
              <a:t>SLOPE STABILITY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7523" y="3421739"/>
            <a:ext cx="1131439" cy="34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2"/>
              </a:lnSpc>
            </a:pPr>
            <a:r>
              <a:rPr lang="en-US" sz="114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DEM, slope angle, land cover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577200" y="2396621"/>
            <a:ext cx="1507430" cy="1658531"/>
          </a:xfrm>
          <a:custGeom>
            <a:avLst/>
            <a:gdLst/>
            <a:ahLst/>
            <a:cxnLst/>
            <a:rect l="l" t="t" r="r" b="b"/>
            <a:pathLst>
              <a:path w="1507430" h="1658531">
                <a:moveTo>
                  <a:pt x="0" y="0"/>
                </a:moveTo>
                <a:lnTo>
                  <a:pt x="1507430" y="0"/>
                </a:lnTo>
                <a:lnTo>
                  <a:pt x="1507430" y="1658531"/>
                </a:lnTo>
                <a:lnTo>
                  <a:pt x="0" y="16585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780" b="-1780"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0925068" y="2501591"/>
            <a:ext cx="811693" cy="622824"/>
          </a:xfrm>
          <a:custGeom>
            <a:avLst/>
            <a:gdLst/>
            <a:ahLst/>
            <a:cxnLst/>
            <a:rect l="l" t="t" r="r" b="b"/>
            <a:pathLst>
              <a:path w="811693" h="622824">
                <a:moveTo>
                  <a:pt x="0" y="0"/>
                </a:moveTo>
                <a:lnTo>
                  <a:pt x="811694" y="0"/>
                </a:lnTo>
                <a:lnTo>
                  <a:pt x="811694" y="622824"/>
                </a:lnTo>
                <a:lnTo>
                  <a:pt x="0" y="62282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780" b="-1780"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0785242" y="3156547"/>
            <a:ext cx="1146326" cy="17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9"/>
              </a:lnSpc>
            </a:pPr>
            <a:r>
              <a:rPr lang="en-US" sz="1013" b="1">
                <a:solidFill>
                  <a:srgbClr val="803C7D"/>
                </a:solidFill>
                <a:latin typeface="Roboto Bold"/>
                <a:ea typeface="Roboto Bold"/>
                <a:cs typeface="Roboto Bold"/>
                <a:sym typeface="Roboto Bold"/>
              </a:rPr>
              <a:t>HISTORICAL DATA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770309" y="3435735"/>
            <a:ext cx="117610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7"/>
              </a:lnSpc>
            </a:pPr>
            <a:r>
              <a:rPr lang="en-US" sz="113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Landslides, flash floods, past events</a:t>
            </a:r>
          </a:p>
        </p:txBody>
      </p:sp>
      <p:sp>
        <p:nvSpPr>
          <p:cNvPr id="44" name="Freeform 44"/>
          <p:cNvSpPr/>
          <p:nvPr/>
        </p:nvSpPr>
        <p:spPr>
          <a:xfrm>
            <a:off x="12084630" y="2396621"/>
            <a:ext cx="1623386" cy="1658531"/>
          </a:xfrm>
          <a:custGeom>
            <a:avLst/>
            <a:gdLst/>
            <a:ahLst/>
            <a:cxnLst/>
            <a:rect l="l" t="t" r="r" b="b"/>
            <a:pathLst>
              <a:path w="1623386" h="1658531">
                <a:moveTo>
                  <a:pt x="0" y="0"/>
                </a:moveTo>
                <a:lnTo>
                  <a:pt x="1623387" y="0"/>
                </a:lnTo>
                <a:lnTo>
                  <a:pt x="1623387" y="1658531"/>
                </a:lnTo>
                <a:lnTo>
                  <a:pt x="0" y="165853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780" b="-1780"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2708938" y="2603063"/>
            <a:ext cx="463825" cy="419881"/>
          </a:xfrm>
          <a:custGeom>
            <a:avLst/>
            <a:gdLst/>
            <a:ahLst/>
            <a:cxnLst/>
            <a:rect l="l" t="t" r="r" b="b"/>
            <a:pathLst>
              <a:path w="463825" h="419881">
                <a:moveTo>
                  <a:pt x="0" y="0"/>
                </a:moveTo>
                <a:lnTo>
                  <a:pt x="463825" y="0"/>
                </a:lnTo>
                <a:lnTo>
                  <a:pt x="463825" y="419881"/>
                </a:lnTo>
                <a:lnTo>
                  <a:pt x="0" y="41988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1780" b="-1780"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2335840" y="3102360"/>
            <a:ext cx="1101664" cy="321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9"/>
              </a:lnSpc>
            </a:pPr>
            <a:r>
              <a:rPr lang="en-US" sz="1065" b="1">
                <a:solidFill>
                  <a:srgbClr val="E46B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IOT REAL-TIME INPUTS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368606" y="3513044"/>
            <a:ext cx="120587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116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Rain gauges, river level.</a:t>
            </a:r>
          </a:p>
        </p:txBody>
      </p:sp>
      <p:sp>
        <p:nvSpPr>
          <p:cNvPr id="48" name="Freeform 48"/>
          <p:cNvSpPr/>
          <p:nvPr/>
        </p:nvSpPr>
        <p:spPr>
          <a:xfrm>
            <a:off x="7214471" y="3943183"/>
            <a:ext cx="3130817" cy="524851"/>
          </a:xfrm>
          <a:custGeom>
            <a:avLst/>
            <a:gdLst/>
            <a:ahLst/>
            <a:cxnLst/>
            <a:rect l="l" t="t" r="r" b="b"/>
            <a:pathLst>
              <a:path w="3130817" h="524851">
                <a:moveTo>
                  <a:pt x="0" y="0"/>
                </a:moveTo>
                <a:lnTo>
                  <a:pt x="3130817" y="0"/>
                </a:lnTo>
                <a:lnTo>
                  <a:pt x="3130817" y="524852"/>
                </a:lnTo>
                <a:lnTo>
                  <a:pt x="0" y="5248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1780" b="-1780"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0113375" y="3943183"/>
            <a:ext cx="2898904" cy="524851"/>
          </a:xfrm>
          <a:custGeom>
            <a:avLst/>
            <a:gdLst/>
            <a:ahLst/>
            <a:cxnLst/>
            <a:rect l="l" t="t" r="r" b="b"/>
            <a:pathLst>
              <a:path w="2898904" h="524851">
                <a:moveTo>
                  <a:pt x="0" y="0"/>
                </a:moveTo>
                <a:lnTo>
                  <a:pt x="2898905" y="0"/>
                </a:lnTo>
                <a:lnTo>
                  <a:pt x="2898905" y="524852"/>
                </a:lnTo>
                <a:lnTo>
                  <a:pt x="0" y="5248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1780" b="-1780"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8374033" y="4461037"/>
            <a:ext cx="3514271" cy="1046302"/>
          </a:xfrm>
          <a:custGeom>
            <a:avLst/>
            <a:gdLst/>
            <a:ahLst/>
            <a:cxnLst/>
            <a:rect l="l" t="t" r="r" b="b"/>
            <a:pathLst>
              <a:path w="3514271" h="1046302">
                <a:moveTo>
                  <a:pt x="0" y="0"/>
                </a:moveTo>
                <a:lnTo>
                  <a:pt x="3514271" y="0"/>
                </a:lnTo>
                <a:lnTo>
                  <a:pt x="3514271" y="1046302"/>
                </a:lnTo>
                <a:lnTo>
                  <a:pt x="0" y="104630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1780" b="-1780"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8605945" y="4559009"/>
            <a:ext cx="695737" cy="629822"/>
          </a:xfrm>
          <a:custGeom>
            <a:avLst/>
            <a:gdLst/>
            <a:ahLst/>
            <a:cxnLst/>
            <a:rect l="l" t="t" r="r" b="b"/>
            <a:pathLst>
              <a:path w="695737" h="629822">
                <a:moveTo>
                  <a:pt x="0" y="0"/>
                </a:moveTo>
                <a:lnTo>
                  <a:pt x="695737" y="0"/>
                </a:lnTo>
                <a:lnTo>
                  <a:pt x="695737" y="629822"/>
                </a:lnTo>
                <a:lnTo>
                  <a:pt x="0" y="6298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t="-1780" b="-1780"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9380995" y="4604955"/>
            <a:ext cx="1689715" cy="371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lang="en-US" sz="132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FUSION &amp; PREDICTION ENGINE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301682" y="5006504"/>
            <a:ext cx="2414671" cy="34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sz="11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AI/ML models analyze combined signals to estimate flash-flood risk</a:t>
            </a:r>
          </a:p>
        </p:txBody>
      </p:sp>
      <p:sp>
        <p:nvSpPr>
          <p:cNvPr id="54" name="Freeform 54"/>
          <p:cNvSpPr/>
          <p:nvPr/>
        </p:nvSpPr>
        <p:spPr>
          <a:xfrm>
            <a:off x="9997419" y="5384775"/>
            <a:ext cx="347869" cy="314911"/>
          </a:xfrm>
          <a:custGeom>
            <a:avLst/>
            <a:gdLst/>
            <a:ahLst/>
            <a:cxnLst/>
            <a:rect l="l" t="t" r="r" b="b"/>
            <a:pathLst>
              <a:path w="347869" h="314911">
                <a:moveTo>
                  <a:pt x="0" y="0"/>
                </a:moveTo>
                <a:lnTo>
                  <a:pt x="347869" y="0"/>
                </a:lnTo>
                <a:lnTo>
                  <a:pt x="347869" y="314911"/>
                </a:lnTo>
                <a:lnTo>
                  <a:pt x="0" y="3149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t="-1780" b="-1780"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8374033" y="5594716"/>
            <a:ext cx="3594641" cy="1096989"/>
          </a:xfrm>
          <a:custGeom>
            <a:avLst/>
            <a:gdLst/>
            <a:ahLst/>
            <a:cxnLst/>
            <a:rect l="l" t="t" r="r" b="b"/>
            <a:pathLst>
              <a:path w="3594641" h="1096989">
                <a:moveTo>
                  <a:pt x="0" y="0"/>
                </a:moveTo>
                <a:lnTo>
                  <a:pt x="3594641" y="0"/>
                </a:lnTo>
                <a:lnTo>
                  <a:pt x="3594641" y="1096989"/>
                </a:lnTo>
                <a:lnTo>
                  <a:pt x="0" y="109698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7900" t="-1749" r="-7900"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8605945" y="5797659"/>
            <a:ext cx="463825" cy="524851"/>
          </a:xfrm>
          <a:custGeom>
            <a:avLst/>
            <a:gdLst/>
            <a:ahLst/>
            <a:cxnLst/>
            <a:rect l="l" t="t" r="r" b="b"/>
            <a:pathLst>
              <a:path w="463825" h="524851">
                <a:moveTo>
                  <a:pt x="0" y="0"/>
                </a:moveTo>
                <a:lnTo>
                  <a:pt x="463825" y="0"/>
                </a:lnTo>
                <a:lnTo>
                  <a:pt x="463825" y="524851"/>
                </a:lnTo>
                <a:lnTo>
                  <a:pt x="0" y="52485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t="-1780" b="-1780"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9237429" y="5806704"/>
            <a:ext cx="2538294" cy="18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lang="en-US" sz="132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HYPER-LOCAL RISK FORECAST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37429" y="6027402"/>
            <a:ext cx="2348629" cy="42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2"/>
              </a:lnSpc>
            </a:pPr>
            <a:r>
              <a:rPr lang="en-US" sz="15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Generates risk prediction at village / ward level</a:t>
            </a:r>
          </a:p>
        </p:txBody>
      </p:sp>
      <p:sp>
        <p:nvSpPr>
          <p:cNvPr id="59" name="Freeform 59"/>
          <p:cNvSpPr/>
          <p:nvPr/>
        </p:nvSpPr>
        <p:spPr>
          <a:xfrm>
            <a:off x="9997419" y="6530750"/>
            <a:ext cx="368646" cy="341136"/>
          </a:xfrm>
          <a:custGeom>
            <a:avLst/>
            <a:gdLst/>
            <a:ahLst/>
            <a:cxnLst/>
            <a:rect l="l" t="t" r="r" b="b"/>
            <a:pathLst>
              <a:path w="368646" h="341136">
                <a:moveTo>
                  <a:pt x="0" y="0"/>
                </a:moveTo>
                <a:lnTo>
                  <a:pt x="368646" y="0"/>
                </a:lnTo>
                <a:lnTo>
                  <a:pt x="368646" y="341136"/>
                </a:lnTo>
                <a:lnTo>
                  <a:pt x="0" y="34113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t="-1780" b="-1780"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8374033" y="6691705"/>
            <a:ext cx="3594641" cy="1120224"/>
          </a:xfrm>
          <a:custGeom>
            <a:avLst/>
            <a:gdLst/>
            <a:ahLst/>
            <a:cxnLst/>
            <a:rect l="l" t="t" r="r" b="b"/>
            <a:pathLst>
              <a:path w="3594641" h="1120224">
                <a:moveTo>
                  <a:pt x="0" y="0"/>
                </a:moveTo>
                <a:lnTo>
                  <a:pt x="3594641" y="0"/>
                </a:lnTo>
                <a:lnTo>
                  <a:pt x="3594641" y="1120224"/>
                </a:lnTo>
                <a:lnTo>
                  <a:pt x="0" y="112022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14946" r="-14946"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8489989" y="6921070"/>
            <a:ext cx="579781" cy="622824"/>
          </a:xfrm>
          <a:custGeom>
            <a:avLst/>
            <a:gdLst/>
            <a:ahLst/>
            <a:cxnLst/>
            <a:rect l="l" t="t" r="r" b="b"/>
            <a:pathLst>
              <a:path w="579781" h="622824">
                <a:moveTo>
                  <a:pt x="0" y="0"/>
                </a:moveTo>
                <a:lnTo>
                  <a:pt x="579781" y="0"/>
                </a:lnTo>
                <a:lnTo>
                  <a:pt x="579781" y="622824"/>
                </a:lnTo>
                <a:lnTo>
                  <a:pt x="0" y="62282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t="-1780" b="-1780"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9157224" y="6881411"/>
            <a:ext cx="2229960" cy="19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3"/>
              </a:lnSpc>
            </a:pPr>
            <a:r>
              <a:rPr lang="en-US" sz="133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EARLY WARNING SYSTEM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121975" y="7115666"/>
            <a:ext cx="2579538" cy="623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149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Provides risk level, affected location and available lead time</a:t>
            </a:r>
          </a:p>
        </p:txBody>
      </p:sp>
      <p:sp>
        <p:nvSpPr>
          <p:cNvPr id="64" name="Freeform 64"/>
          <p:cNvSpPr/>
          <p:nvPr/>
        </p:nvSpPr>
        <p:spPr>
          <a:xfrm>
            <a:off x="10064430" y="7666301"/>
            <a:ext cx="362154" cy="503759"/>
          </a:xfrm>
          <a:custGeom>
            <a:avLst/>
            <a:gdLst/>
            <a:ahLst/>
            <a:cxnLst/>
            <a:rect l="l" t="t" r="r" b="b"/>
            <a:pathLst>
              <a:path w="362154" h="503759">
                <a:moveTo>
                  <a:pt x="0" y="0"/>
                </a:moveTo>
                <a:lnTo>
                  <a:pt x="362155" y="0"/>
                </a:lnTo>
                <a:lnTo>
                  <a:pt x="362155" y="503759"/>
                </a:lnTo>
                <a:lnTo>
                  <a:pt x="0" y="50375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6613" r="-6613" b="-1749"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8312575" y="8025828"/>
            <a:ext cx="3826554" cy="1109434"/>
          </a:xfrm>
          <a:custGeom>
            <a:avLst/>
            <a:gdLst/>
            <a:ahLst/>
            <a:cxnLst/>
            <a:rect l="l" t="t" r="r" b="b"/>
            <a:pathLst>
              <a:path w="3826554" h="1109434">
                <a:moveTo>
                  <a:pt x="0" y="0"/>
                </a:moveTo>
                <a:lnTo>
                  <a:pt x="3826554" y="0"/>
                </a:lnTo>
                <a:lnTo>
                  <a:pt x="3826554" y="1109434"/>
                </a:lnTo>
                <a:lnTo>
                  <a:pt x="0" y="110943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15446" t="-1749" r="-15446"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8489989" y="8279433"/>
            <a:ext cx="811693" cy="517853"/>
          </a:xfrm>
          <a:custGeom>
            <a:avLst/>
            <a:gdLst/>
            <a:ahLst/>
            <a:cxnLst/>
            <a:rect l="l" t="t" r="r" b="b"/>
            <a:pathLst>
              <a:path w="811693" h="517853">
                <a:moveTo>
                  <a:pt x="0" y="0"/>
                </a:moveTo>
                <a:lnTo>
                  <a:pt x="811693" y="0"/>
                </a:lnTo>
                <a:lnTo>
                  <a:pt x="811693" y="517853"/>
                </a:lnTo>
                <a:lnTo>
                  <a:pt x="0" y="51785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t="-1780" b="-1780"/>
            </a:stretch>
          </a:blipFill>
        </p:spPr>
      </p:sp>
      <p:sp>
        <p:nvSpPr>
          <p:cNvPr id="67" name="TextBox 67"/>
          <p:cNvSpPr txBox="1"/>
          <p:nvPr/>
        </p:nvSpPr>
        <p:spPr>
          <a:xfrm>
            <a:off x="9278691" y="8181558"/>
            <a:ext cx="2017236" cy="18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lang="en-US" sz="1326" b="1">
                <a:solidFill>
                  <a:srgbClr val="E46B00"/>
                </a:solidFill>
                <a:latin typeface="Roboto Bold"/>
                <a:ea typeface="Roboto Bold"/>
                <a:cs typeface="Roboto Bold"/>
                <a:sym typeface="Roboto Bold"/>
              </a:rPr>
              <a:t>ACTIONABLE RESPONSE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301682" y="8399781"/>
            <a:ext cx="2898904" cy="419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48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Enables timely evacuation, preparedness and risk mitigation</a:t>
            </a:r>
          </a:p>
        </p:txBody>
      </p:sp>
      <p:sp>
        <p:nvSpPr>
          <p:cNvPr id="69" name="Freeform 69"/>
          <p:cNvSpPr/>
          <p:nvPr/>
        </p:nvSpPr>
        <p:spPr>
          <a:xfrm>
            <a:off x="14278893" y="9387123"/>
            <a:ext cx="282056" cy="301734"/>
          </a:xfrm>
          <a:custGeom>
            <a:avLst/>
            <a:gdLst/>
            <a:ahLst/>
            <a:cxnLst/>
            <a:rect l="l" t="t" r="r" b="b"/>
            <a:pathLst>
              <a:path w="282056" h="301734">
                <a:moveTo>
                  <a:pt x="0" y="0"/>
                </a:moveTo>
                <a:lnTo>
                  <a:pt x="282055" y="0"/>
                </a:lnTo>
                <a:lnTo>
                  <a:pt x="282055" y="301734"/>
                </a:lnTo>
                <a:lnTo>
                  <a:pt x="0" y="30173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70" name="TextBox 70"/>
          <p:cNvSpPr txBox="1"/>
          <p:nvPr/>
        </p:nvSpPr>
        <p:spPr>
          <a:xfrm>
            <a:off x="12401540" y="5734050"/>
            <a:ext cx="463881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INNOVATION/ UNIQUENESS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47397" y="2050044"/>
            <a:ext cx="239884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48312" y="5285975"/>
            <a:ext cx="341211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64507" y="5686425"/>
            <a:ext cx="7191833" cy="388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957" lvl="1" indent="-227978" algn="just">
              <a:lnSpc>
                <a:spcPts val="2956"/>
              </a:lnSpc>
              <a:buFont typeface="Arial"/>
              <a:buChar char="•"/>
            </a:pPr>
            <a:r>
              <a:rPr lang="en-US" sz="211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PRAVAH AI </a:t>
            </a:r>
            <a:r>
              <a:rPr lang="en-US" sz="2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 AI-based</a:t>
            </a:r>
            <a:r>
              <a:rPr lang="en-US" sz="211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flash-flood prediction system</a:t>
            </a:r>
            <a:r>
              <a:rPr lang="en-US" sz="2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designed for hilly regions. It uses historical and environmental data to predict flood risk and provide localized warnings.</a:t>
            </a:r>
          </a:p>
          <a:p>
            <a:pPr algn="just">
              <a:lnSpc>
                <a:spcPts val="2956"/>
              </a:lnSpc>
            </a:pPr>
            <a:endParaRPr lang="en-US" sz="211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7404" lvl="1" indent="-248702" algn="just">
              <a:lnSpc>
                <a:spcPts val="3225"/>
              </a:lnSpc>
              <a:buFont typeface="Arial"/>
              <a:buChar char="•"/>
            </a:pPr>
            <a:r>
              <a:rPr lang="en-US" sz="230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Predictive Risk Engine:</a:t>
            </a:r>
            <a:r>
              <a:rPr lang="en-US" sz="23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Analyses </a:t>
            </a:r>
            <a:r>
              <a:rPr lang="en-US" sz="2303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 data </a:t>
            </a:r>
            <a:r>
              <a:rPr lang="en-US" sz="23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identify emerging flash-flood risk.</a:t>
            </a:r>
          </a:p>
          <a:p>
            <a:pPr algn="just">
              <a:lnSpc>
                <a:spcPts val="3225"/>
              </a:lnSpc>
            </a:pPr>
            <a:endParaRPr lang="en-US" sz="230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76680" lvl="1" indent="-238340" algn="just">
              <a:lnSpc>
                <a:spcPts val="3091"/>
              </a:lnSpc>
              <a:buFont typeface="Arial"/>
              <a:buChar char="•"/>
            </a:pPr>
            <a:r>
              <a:rPr lang="en-US" sz="220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Hilly-Region Focus: </a:t>
            </a:r>
            <a:r>
              <a:rPr lang="en-US" sz="2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specifically for flash-flood prediction in hilly areas, considering the role of terrain and slope.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241541" y="6179633"/>
            <a:ext cx="5887892" cy="315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945" lvl="1" indent="-206973" algn="l">
              <a:lnSpc>
                <a:spcPts val="2319"/>
              </a:lnSpc>
              <a:buFont typeface="Arial"/>
              <a:buChar char="•"/>
            </a:pPr>
            <a:r>
              <a:rPr lang="en-US" sz="191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Alternative Routing System:</a:t>
            </a:r>
            <a:r>
              <a:rPr lang="en-US" sz="19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Suggests safer alternative routes during a flood-risk situation, helping people avoid potentially affected areas.</a:t>
            </a:r>
          </a:p>
          <a:p>
            <a:pPr algn="l">
              <a:lnSpc>
                <a:spcPts val="2319"/>
              </a:lnSpc>
            </a:pPr>
            <a:endParaRPr lang="en-US" sz="19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3945" lvl="1" indent="-206973" algn="l">
              <a:lnSpc>
                <a:spcPts val="2319"/>
              </a:lnSpc>
              <a:buFont typeface="Arial"/>
              <a:buChar char="•"/>
            </a:pPr>
            <a:r>
              <a:rPr lang="en-US" sz="191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Catchment-Level Prediction: </a:t>
            </a:r>
            <a:r>
              <a:rPr lang="en-US" sz="19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</a:t>
            </a:r>
            <a:r>
              <a:rPr lang="en-US" sz="1917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catchment-specific </a:t>
            </a:r>
            <a:r>
              <a:rPr lang="en-US" sz="19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flood risk instead of broad district/state-level warnings.</a:t>
            </a:r>
          </a:p>
          <a:p>
            <a:pPr algn="l">
              <a:lnSpc>
                <a:spcPts val="2319"/>
              </a:lnSpc>
            </a:pPr>
            <a:endParaRPr lang="en-US" sz="19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3945" lvl="1" indent="-206973" algn="l">
              <a:lnSpc>
                <a:spcPts val="2319"/>
              </a:lnSpc>
              <a:buFont typeface="Arial"/>
              <a:buChar char="•"/>
            </a:pPr>
            <a:r>
              <a:rPr lang="en-US" sz="191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&amp; Actionable: </a:t>
            </a:r>
            <a:r>
              <a:rPr lang="en-US" sz="19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SHAP-based risk explanations +</a:t>
            </a:r>
            <a:r>
              <a:rPr lang="en-US" sz="1917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human-reviewed alerts </a:t>
            </a:r>
            <a:r>
              <a:rPr lang="en-US" sz="19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safe-route guidance turn predictions into actionable decisions.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1939" y="2535892"/>
            <a:ext cx="6429060" cy="226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6309" lvl="1" indent="-223154" algn="l">
              <a:lnSpc>
                <a:spcPts val="3018"/>
              </a:lnSpc>
              <a:buFont typeface="Arial"/>
              <a:buChar char="•"/>
            </a:pPr>
            <a:r>
              <a:rPr lang="en-US" sz="20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 floods in hilly regions occur with </a:t>
            </a:r>
            <a:r>
              <a:rPr lang="en-US" sz="206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very short warning times</a:t>
            </a:r>
            <a:r>
              <a:rPr lang="en-US" sz="20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making evacuation difficult.</a:t>
            </a:r>
          </a:p>
          <a:p>
            <a:pPr marL="446309" lvl="1" indent="-223154" algn="l">
              <a:lnSpc>
                <a:spcPts val="3018"/>
              </a:lnSpc>
              <a:buFont typeface="Arial"/>
              <a:buChar char="•"/>
            </a:pPr>
            <a:r>
              <a:rPr lang="en-US" sz="20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</a:t>
            </a:r>
            <a:r>
              <a:rPr lang="en-US" sz="206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hyper-local,</a:t>
            </a:r>
            <a:r>
              <a:rPr lang="en-US" sz="2067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village/ward-</a:t>
            </a:r>
            <a:r>
              <a:rPr lang="en-US" sz="206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</a:t>
            </a:r>
            <a:r>
              <a:rPr lang="en-US" sz="20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prediction.</a:t>
            </a:r>
          </a:p>
          <a:p>
            <a:pPr marL="446309" lvl="1" indent="-223154" algn="l">
              <a:lnSpc>
                <a:spcPts val="3018"/>
              </a:lnSpc>
              <a:buFont typeface="Arial"/>
              <a:buChar char="•"/>
            </a:pPr>
            <a:r>
              <a:rPr lang="en-US" sz="20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Rainfall, soil moisture, slope and historical data are </a:t>
            </a:r>
            <a:r>
              <a:rPr lang="en-US" sz="206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 sufficiently integrated.</a:t>
            </a:r>
          </a:p>
        </p:txBody>
      </p:sp>
      <p:sp>
        <p:nvSpPr>
          <p:cNvPr id="76" name="Freeform 76"/>
          <p:cNvSpPr/>
          <p:nvPr/>
        </p:nvSpPr>
        <p:spPr>
          <a:xfrm>
            <a:off x="13791708" y="1645987"/>
            <a:ext cx="4058564" cy="3068488"/>
          </a:xfrm>
          <a:custGeom>
            <a:avLst/>
            <a:gdLst/>
            <a:ahLst/>
            <a:cxnLst/>
            <a:rect l="l" t="t" r="r" b="b"/>
            <a:pathLst>
              <a:path w="4058564" h="3068488">
                <a:moveTo>
                  <a:pt x="0" y="0"/>
                </a:moveTo>
                <a:lnTo>
                  <a:pt x="4058564" y="0"/>
                </a:lnTo>
                <a:lnTo>
                  <a:pt x="4058564" y="3068488"/>
                </a:lnTo>
                <a:lnTo>
                  <a:pt x="0" y="3068488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t="-1484" r="-7179" b="-1484"/>
            </a:stretch>
          </a:blipFill>
        </p:spPr>
      </p:sp>
      <p:sp>
        <p:nvSpPr>
          <p:cNvPr id="77" name="TextBox 77"/>
          <p:cNvSpPr txBox="1"/>
          <p:nvPr/>
        </p:nvSpPr>
        <p:spPr>
          <a:xfrm>
            <a:off x="13172763" y="4820082"/>
            <a:ext cx="4799164" cy="5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5"/>
              </a:lnSpc>
            </a:pPr>
            <a:r>
              <a:rPr lang="en-US" sz="1721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Flash Flood Disaster: Dharali Village, Uttarkashi District, Uttarakhand. (NDMA) Aug, 2025.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269795" y="251609"/>
            <a:ext cx="2570715" cy="1011193"/>
            <a:chOff x="0" y="0"/>
            <a:chExt cx="4234045" cy="1665465"/>
          </a:xfrm>
        </p:grpSpPr>
        <p:sp>
          <p:nvSpPr>
            <p:cNvPr id="79" name="Freeform 79" descr="Your startup LOGO"/>
            <p:cNvSpPr/>
            <p:nvPr/>
          </p:nvSpPr>
          <p:spPr>
            <a:xfrm>
              <a:off x="0" y="0"/>
              <a:ext cx="4233982" cy="1665478"/>
            </a:xfrm>
            <a:custGeom>
              <a:avLst/>
              <a:gdLst/>
              <a:ahLst/>
              <a:cxnLst/>
              <a:rect l="l" t="t" r="r" b="b"/>
              <a:pathLst>
                <a:path w="4233982" h="1665478">
                  <a:moveTo>
                    <a:pt x="0" y="832739"/>
                  </a:moveTo>
                  <a:cubicBezTo>
                    <a:pt x="0" y="372872"/>
                    <a:pt x="947878" y="0"/>
                    <a:pt x="2116991" y="0"/>
                  </a:cubicBezTo>
                  <a:cubicBezTo>
                    <a:pt x="3286104" y="0"/>
                    <a:pt x="4233982" y="372872"/>
                    <a:pt x="4233982" y="832739"/>
                  </a:cubicBezTo>
                  <a:cubicBezTo>
                    <a:pt x="4233982" y="1292606"/>
                    <a:pt x="3286104" y="1665478"/>
                    <a:pt x="2116991" y="1665478"/>
                  </a:cubicBezTo>
                  <a:cubicBezTo>
                    <a:pt x="947878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57150"/>
              <a:ext cx="4234045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INTELLIVERSE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185404"/>
            <a:ext cx="18288000" cy="7249314"/>
          </a:xfrm>
          <a:custGeom>
            <a:avLst/>
            <a:gdLst/>
            <a:ahLst/>
            <a:cxnLst/>
            <a:rect l="l" t="t" r="r" b="b"/>
            <a:pathLst>
              <a:path w="19062462" h="7249314">
                <a:moveTo>
                  <a:pt x="0" y="0"/>
                </a:moveTo>
                <a:lnTo>
                  <a:pt x="19062462" y="0"/>
                </a:lnTo>
                <a:lnTo>
                  <a:pt x="19062462" y="7249314"/>
                </a:lnTo>
                <a:lnTo>
                  <a:pt x="0" y="72493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-423" t="-210" r="-423" b="-13819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808369"/>
            <a:ext cx="18288000" cy="754856"/>
            <a:chOff x="0" y="0"/>
            <a:chExt cx="24384000" cy="10064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64340" y="-275523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40"/>
                </a:lnSpc>
              </a:pPr>
              <a:r>
                <a:rPr lang="en-US" sz="47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808369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521" b="-13750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81661" y="9808369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5116" y="99216"/>
            <a:ext cx="2671361" cy="965022"/>
            <a:chOff x="0" y="0"/>
            <a:chExt cx="4610317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4610248" cy="1665478"/>
            </a:xfrm>
            <a:custGeom>
              <a:avLst/>
              <a:gdLst/>
              <a:ahLst/>
              <a:cxnLst/>
              <a:rect l="l" t="t" r="r" b="b"/>
              <a:pathLst>
                <a:path w="4610248" h="1665478">
                  <a:moveTo>
                    <a:pt x="0" y="832739"/>
                  </a:moveTo>
                  <a:cubicBezTo>
                    <a:pt x="0" y="372872"/>
                    <a:pt x="1032114" y="0"/>
                    <a:pt x="2305124" y="0"/>
                  </a:cubicBezTo>
                  <a:cubicBezTo>
                    <a:pt x="3578134" y="0"/>
                    <a:pt x="4610248" y="372872"/>
                    <a:pt x="4610248" y="832739"/>
                  </a:cubicBezTo>
                  <a:cubicBezTo>
                    <a:pt x="4610248" y="1292606"/>
                    <a:pt x="3578134" y="1665478"/>
                    <a:pt x="2305124" y="1665478"/>
                  </a:cubicBezTo>
                  <a:cubicBezTo>
                    <a:pt x="1032114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610317" cy="1684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INTELLIVERSE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086885" y="47337"/>
            <a:ext cx="1986157" cy="937825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6713461" y="8580838"/>
            <a:ext cx="4814100" cy="1227530"/>
            <a:chOff x="0" y="0"/>
            <a:chExt cx="6418799" cy="16367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7166" cy="1636707"/>
            </a:xfrm>
            <a:custGeom>
              <a:avLst/>
              <a:gdLst/>
              <a:ahLst/>
              <a:cxnLst/>
              <a:rect l="l" t="t" r="r" b="b"/>
              <a:pathLst>
                <a:path w="937166" h="1636707">
                  <a:moveTo>
                    <a:pt x="0" y="0"/>
                  </a:moveTo>
                  <a:lnTo>
                    <a:pt x="937166" y="0"/>
                  </a:lnTo>
                  <a:lnTo>
                    <a:pt x="937166" y="1636707"/>
                  </a:lnTo>
                  <a:lnTo>
                    <a:pt x="0" y="1636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740" b="-374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04711" y="287398"/>
              <a:ext cx="832454" cy="677090"/>
            </a:xfrm>
            <a:custGeom>
              <a:avLst/>
              <a:gdLst/>
              <a:ahLst/>
              <a:cxnLst/>
              <a:rect l="l" t="t" r="r" b="b"/>
              <a:pathLst>
                <a:path w="832454" h="677090">
                  <a:moveTo>
                    <a:pt x="0" y="0"/>
                  </a:moveTo>
                  <a:lnTo>
                    <a:pt x="832455" y="0"/>
                  </a:lnTo>
                  <a:lnTo>
                    <a:pt x="832455" y="677090"/>
                  </a:lnTo>
                  <a:lnTo>
                    <a:pt x="0" y="677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740" b="-374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290972" y="1173423"/>
              <a:ext cx="357359" cy="156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9"/>
                </a:lnSpc>
              </a:pPr>
              <a:r>
                <a:rPr lang="en-US" sz="692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React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31930" y="0"/>
              <a:ext cx="937166" cy="1636707"/>
            </a:xfrm>
            <a:custGeom>
              <a:avLst/>
              <a:gdLst/>
              <a:ahLst/>
              <a:cxnLst/>
              <a:rect l="l" t="t" r="r" b="b"/>
              <a:pathLst>
                <a:path w="937166" h="1636707">
                  <a:moveTo>
                    <a:pt x="0" y="0"/>
                  </a:moveTo>
                  <a:lnTo>
                    <a:pt x="937166" y="0"/>
                  </a:lnTo>
                  <a:lnTo>
                    <a:pt x="937166" y="1636707"/>
                  </a:lnTo>
                  <a:lnTo>
                    <a:pt x="0" y="1636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740" b="-374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1036641" y="287398"/>
              <a:ext cx="727743" cy="677090"/>
            </a:xfrm>
            <a:custGeom>
              <a:avLst/>
              <a:gdLst/>
              <a:ahLst/>
              <a:cxnLst/>
              <a:rect l="l" t="t" r="r" b="b"/>
              <a:pathLst>
                <a:path w="727743" h="677090">
                  <a:moveTo>
                    <a:pt x="0" y="0"/>
                  </a:moveTo>
                  <a:lnTo>
                    <a:pt x="727744" y="0"/>
                  </a:lnTo>
                  <a:lnTo>
                    <a:pt x="727744" y="677090"/>
                  </a:lnTo>
                  <a:lnTo>
                    <a:pt x="0" y="677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740" b="-374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138044" y="1171218"/>
              <a:ext cx="516185" cy="160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8"/>
                </a:lnSpc>
              </a:pPr>
              <a:r>
                <a:rPr lang="en-US" sz="706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Mapbox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759149" y="0"/>
              <a:ext cx="1036641" cy="1636707"/>
            </a:xfrm>
            <a:custGeom>
              <a:avLst/>
              <a:gdLst/>
              <a:ahLst/>
              <a:cxnLst/>
              <a:rect l="l" t="t" r="r" b="b"/>
              <a:pathLst>
                <a:path w="1036641" h="1636707">
                  <a:moveTo>
                    <a:pt x="0" y="0"/>
                  </a:moveTo>
                  <a:lnTo>
                    <a:pt x="1036641" y="0"/>
                  </a:lnTo>
                  <a:lnTo>
                    <a:pt x="1036641" y="1636707"/>
                  </a:lnTo>
                  <a:lnTo>
                    <a:pt x="0" y="1636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740" b="-3740"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968571" y="287398"/>
              <a:ext cx="623032" cy="677090"/>
            </a:xfrm>
            <a:custGeom>
              <a:avLst/>
              <a:gdLst/>
              <a:ahLst/>
              <a:cxnLst/>
              <a:rect l="l" t="t" r="r" b="b"/>
              <a:pathLst>
                <a:path w="623032" h="677090">
                  <a:moveTo>
                    <a:pt x="0" y="0"/>
                  </a:moveTo>
                  <a:lnTo>
                    <a:pt x="623032" y="0"/>
                  </a:lnTo>
                  <a:lnTo>
                    <a:pt x="623032" y="677090"/>
                  </a:lnTo>
                  <a:lnTo>
                    <a:pt x="0" y="677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740" b="-374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2064529" y="1171218"/>
              <a:ext cx="483096" cy="160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8"/>
                </a:lnSpc>
              </a:pPr>
              <a:r>
                <a:rPr lang="en-US" sz="706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Node.js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2691079" y="0"/>
              <a:ext cx="1036641" cy="1636707"/>
            </a:xfrm>
            <a:custGeom>
              <a:avLst/>
              <a:gdLst/>
              <a:ahLst/>
              <a:cxnLst/>
              <a:rect l="l" t="t" r="r" b="b"/>
              <a:pathLst>
                <a:path w="1036641" h="1636707">
                  <a:moveTo>
                    <a:pt x="0" y="0"/>
                  </a:moveTo>
                  <a:lnTo>
                    <a:pt x="1036641" y="0"/>
                  </a:lnTo>
                  <a:lnTo>
                    <a:pt x="1036641" y="1636707"/>
                  </a:lnTo>
                  <a:lnTo>
                    <a:pt x="0" y="1636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740" b="-3740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2999977" y="189975"/>
              <a:ext cx="418845" cy="871936"/>
            </a:xfrm>
            <a:custGeom>
              <a:avLst/>
              <a:gdLst/>
              <a:ahLst/>
              <a:cxnLst/>
              <a:rect l="l" t="t" r="r" b="b"/>
              <a:pathLst>
                <a:path w="418845" h="871936">
                  <a:moveTo>
                    <a:pt x="0" y="0"/>
                  </a:moveTo>
                  <a:lnTo>
                    <a:pt x="418845" y="0"/>
                  </a:lnTo>
                  <a:lnTo>
                    <a:pt x="418845" y="871936"/>
                  </a:lnTo>
                  <a:lnTo>
                    <a:pt x="0" y="87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3740" b="-374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2891748" y="1159487"/>
              <a:ext cx="628686" cy="174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07"/>
                </a:lnSpc>
              </a:pPr>
              <a:r>
                <a:rPr lang="en-US" sz="71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MongoDB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3623009" y="0"/>
              <a:ext cx="931930" cy="1636707"/>
            </a:xfrm>
            <a:custGeom>
              <a:avLst/>
              <a:gdLst/>
              <a:ahLst/>
              <a:cxnLst/>
              <a:rect l="l" t="t" r="r" b="b"/>
              <a:pathLst>
                <a:path w="931930" h="1636707">
                  <a:moveTo>
                    <a:pt x="0" y="0"/>
                  </a:moveTo>
                  <a:lnTo>
                    <a:pt x="931930" y="0"/>
                  </a:lnTo>
                  <a:lnTo>
                    <a:pt x="931930" y="1636707"/>
                  </a:lnTo>
                  <a:lnTo>
                    <a:pt x="0" y="1636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3740" b="-3740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3722485" y="287398"/>
              <a:ext cx="727743" cy="677090"/>
            </a:xfrm>
            <a:custGeom>
              <a:avLst/>
              <a:gdLst/>
              <a:ahLst/>
              <a:cxnLst/>
              <a:rect l="l" t="t" r="r" b="b"/>
              <a:pathLst>
                <a:path w="727743" h="677090">
                  <a:moveTo>
                    <a:pt x="0" y="0"/>
                  </a:moveTo>
                  <a:lnTo>
                    <a:pt x="727743" y="0"/>
                  </a:lnTo>
                  <a:lnTo>
                    <a:pt x="727743" y="677090"/>
                  </a:lnTo>
                  <a:lnTo>
                    <a:pt x="0" y="677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3740" b="-374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3877793" y="1159487"/>
              <a:ext cx="456625" cy="174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07"/>
                </a:lnSpc>
              </a:pPr>
              <a:r>
                <a:rPr lang="en-US" sz="71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Python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4549704" y="0"/>
              <a:ext cx="937166" cy="1636707"/>
            </a:xfrm>
            <a:custGeom>
              <a:avLst/>
              <a:gdLst/>
              <a:ahLst/>
              <a:cxnLst/>
              <a:rect l="l" t="t" r="r" b="b"/>
              <a:pathLst>
                <a:path w="937166" h="1636707">
                  <a:moveTo>
                    <a:pt x="0" y="0"/>
                  </a:moveTo>
                  <a:lnTo>
                    <a:pt x="937165" y="0"/>
                  </a:lnTo>
                  <a:lnTo>
                    <a:pt x="937165" y="1636707"/>
                  </a:lnTo>
                  <a:lnTo>
                    <a:pt x="0" y="1636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3740" b="-374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4671923" y="508944"/>
              <a:ext cx="721335" cy="29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6"/>
                </a:lnSpc>
              </a:pPr>
              <a:r>
                <a:rPr lang="en-US" sz="1290" b="1" i="1">
                  <a:solidFill>
                    <a:srgbClr val="008AFE"/>
                  </a:solidFill>
                  <a:latin typeface="Barlow Condensed Semi-Bold Italics"/>
                  <a:ea typeface="Barlow Condensed Semi-Bold Italics"/>
                  <a:cs typeface="Barlow Condensed Semi-Bold Italics"/>
                  <a:sym typeface="Barlow Condensed Semi-Bold Italics"/>
                </a:rPr>
                <a:t>XGBoost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57953" y="1173193"/>
              <a:ext cx="542656" cy="156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50"/>
                </a:lnSpc>
              </a:pPr>
              <a:r>
                <a:rPr lang="en-US" sz="678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XGBoost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481634" y="0"/>
              <a:ext cx="937166" cy="1636707"/>
            </a:xfrm>
            <a:custGeom>
              <a:avLst/>
              <a:gdLst/>
              <a:ahLst/>
              <a:cxnLst/>
              <a:rect l="l" t="t" r="r" b="b"/>
              <a:pathLst>
                <a:path w="937166" h="1636707">
                  <a:moveTo>
                    <a:pt x="0" y="0"/>
                  </a:moveTo>
                  <a:lnTo>
                    <a:pt x="937165" y="0"/>
                  </a:lnTo>
                  <a:lnTo>
                    <a:pt x="937165" y="1636707"/>
                  </a:lnTo>
                  <a:lnTo>
                    <a:pt x="0" y="1636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3740" b="-3740"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5691056" y="287398"/>
              <a:ext cx="518321" cy="579667"/>
            </a:xfrm>
            <a:custGeom>
              <a:avLst/>
              <a:gdLst/>
              <a:ahLst/>
              <a:cxnLst/>
              <a:rect l="l" t="t" r="r" b="b"/>
              <a:pathLst>
                <a:path w="518321" h="579667">
                  <a:moveTo>
                    <a:pt x="0" y="0"/>
                  </a:moveTo>
                  <a:lnTo>
                    <a:pt x="518321" y="0"/>
                  </a:lnTo>
                  <a:lnTo>
                    <a:pt x="518321" y="579667"/>
                  </a:lnTo>
                  <a:lnTo>
                    <a:pt x="0" y="579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3740" b="-374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5684439" y="821591"/>
              <a:ext cx="502949" cy="13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55"/>
                </a:lnSpc>
              </a:pPr>
              <a:r>
                <a:rPr lang="en-US" sz="61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OR-Tools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52083" y="1188229"/>
              <a:ext cx="840454" cy="117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0"/>
                </a:lnSpc>
              </a:pPr>
              <a:r>
                <a:rPr lang="en-US" sz="542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Google OR-Tools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50560" y="508944"/>
              <a:ext cx="344123" cy="29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6"/>
                </a:lnSpc>
              </a:pPr>
              <a:r>
                <a:rPr lang="en-US" sz="1290" b="1">
                  <a:solidFill>
                    <a:srgbClr val="58C64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JS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6204382" y="1802143"/>
            <a:ext cx="5583280" cy="4415863"/>
          </a:xfrm>
          <a:custGeom>
            <a:avLst/>
            <a:gdLst/>
            <a:ahLst/>
            <a:cxnLst/>
            <a:rect l="l" t="t" r="r" b="b"/>
            <a:pathLst>
              <a:path w="5583280" h="4415863">
                <a:moveTo>
                  <a:pt x="0" y="0"/>
                </a:moveTo>
                <a:lnTo>
                  <a:pt x="5583280" y="0"/>
                </a:lnTo>
                <a:lnTo>
                  <a:pt x="5583280" y="4415863"/>
                </a:lnTo>
                <a:lnTo>
                  <a:pt x="0" y="44158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9730" b="-994"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6164452" y="1239571"/>
            <a:ext cx="5863007" cy="8568797"/>
            <a:chOff x="0" y="0"/>
            <a:chExt cx="1544166" cy="225680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44166" cy="2256803"/>
            </a:xfrm>
            <a:custGeom>
              <a:avLst/>
              <a:gdLst/>
              <a:ahLst/>
              <a:cxnLst/>
              <a:rect l="l" t="t" r="r" b="b"/>
              <a:pathLst>
                <a:path w="1544166" h="2256803">
                  <a:moveTo>
                    <a:pt x="15846" y="0"/>
                  </a:moveTo>
                  <a:lnTo>
                    <a:pt x="1528321" y="0"/>
                  </a:lnTo>
                  <a:cubicBezTo>
                    <a:pt x="1537072" y="0"/>
                    <a:pt x="1544166" y="7094"/>
                    <a:pt x="1544166" y="15846"/>
                  </a:cubicBezTo>
                  <a:lnTo>
                    <a:pt x="1544166" y="2240957"/>
                  </a:lnTo>
                  <a:cubicBezTo>
                    <a:pt x="1544166" y="2245159"/>
                    <a:pt x="1542497" y="2249190"/>
                    <a:pt x="1539525" y="2252162"/>
                  </a:cubicBezTo>
                  <a:cubicBezTo>
                    <a:pt x="1536554" y="2255133"/>
                    <a:pt x="1532523" y="2256803"/>
                    <a:pt x="1528321" y="2256803"/>
                  </a:cubicBezTo>
                  <a:lnTo>
                    <a:pt x="15846" y="2256803"/>
                  </a:lnTo>
                  <a:cubicBezTo>
                    <a:pt x="11643" y="2256803"/>
                    <a:pt x="7613" y="2255133"/>
                    <a:pt x="4641" y="2252162"/>
                  </a:cubicBezTo>
                  <a:cubicBezTo>
                    <a:pt x="1669" y="2249190"/>
                    <a:pt x="0" y="2245159"/>
                    <a:pt x="0" y="2240957"/>
                  </a:cubicBezTo>
                  <a:lnTo>
                    <a:pt x="0" y="15846"/>
                  </a:lnTo>
                  <a:cubicBezTo>
                    <a:pt x="0" y="11643"/>
                    <a:pt x="1669" y="7613"/>
                    <a:pt x="4641" y="4641"/>
                  </a:cubicBezTo>
                  <a:cubicBezTo>
                    <a:pt x="7613" y="1669"/>
                    <a:pt x="11643" y="0"/>
                    <a:pt x="15846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544166" cy="2275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34084" y="1223287"/>
            <a:ext cx="6126684" cy="478784"/>
            <a:chOff x="0" y="0"/>
            <a:chExt cx="8168911" cy="63837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68911" cy="638378"/>
            </a:xfrm>
            <a:custGeom>
              <a:avLst/>
              <a:gdLst/>
              <a:ahLst/>
              <a:cxnLst/>
              <a:rect l="l" t="t" r="r" b="b"/>
              <a:pathLst>
                <a:path w="8168911" h="638378">
                  <a:moveTo>
                    <a:pt x="0" y="0"/>
                  </a:moveTo>
                  <a:lnTo>
                    <a:pt x="8168911" y="0"/>
                  </a:lnTo>
                  <a:lnTo>
                    <a:pt x="8168911" y="638378"/>
                  </a:lnTo>
                  <a:lnTo>
                    <a:pt x="0" y="6383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0791" r="-168647" b="-74888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8168911" cy="647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 FLOWCHART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930598" y="1223287"/>
            <a:ext cx="6126684" cy="478784"/>
            <a:chOff x="0" y="0"/>
            <a:chExt cx="8168911" cy="63837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68911" cy="638378"/>
            </a:xfrm>
            <a:custGeom>
              <a:avLst/>
              <a:gdLst/>
              <a:ahLst/>
              <a:cxnLst/>
              <a:rect l="l" t="t" r="r" b="b"/>
              <a:pathLst>
                <a:path w="8168911" h="638378">
                  <a:moveTo>
                    <a:pt x="0" y="0"/>
                  </a:moveTo>
                  <a:lnTo>
                    <a:pt x="8168911" y="0"/>
                  </a:lnTo>
                  <a:lnTo>
                    <a:pt x="8168911" y="638378"/>
                  </a:lnTo>
                  <a:lnTo>
                    <a:pt x="0" y="6383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0791" r="-168647" b="-748886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8168911" cy="647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USER INTERFACE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002620" y="1239571"/>
            <a:ext cx="6285380" cy="484985"/>
            <a:chOff x="0" y="0"/>
            <a:chExt cx="8168911" cy="63031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68911" cy="630319"/>
            </a:xfrm>
            <a:custGeom>
              <a:avLst/>
              <a:gdLst/>
              <a:ahLst/>
              <a:cxnLst/>
              <a:rect l="l" t="t" r="r" b="b"/>
              <a:pathLst>
                <a:path w="8168911" h="630319">
                  <a:moveTo>
                    <a:pt x="0" y="0"/>
                  </a:moveTo>
                  <a:lnTo>
                    <a:pt x="8168911" y="0"/>
                  </a:lnTo>
                  <a:lnTo>
                    <a:pt x="8168911" y="630319"/>
                  </a:lnTo>
                  <a:lnTo>
                    <a:pt x="0" y="6303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7066" r="-168647" b="-75974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8168911" cy="6398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USER EXPERIENCE PATHWAY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390471" y="1675579"/>
            <a:ext cx="5813911" cy="7926701"/>
          </a:xfrm>
          <a:custGeom>
            <a:avLst/>
            <a:gdLst/>
            <a:ahLst/>
            <a:cxnLst/>
            <a:rect l="l" t="t" r="r" b="b"/>
            <a:pathLst>
              <a:path w="5813911" h="7926701">
                <a:moveTo>
                  <a:pt x="0" y="0"/>
                </a:moveTo>
                <a:lnTo>
                  <a:pt x="5813911" y="0"/>
                </a:lnTo>
                <a:lnTo>
                  <a:pt x="5813911" y="7926702"/>
                </a:lnTo>
                <a:lnTo>
                  <a:pt x="0" y="792670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4127" t="-15386" r="-3265" b="-13768"/>
            </a:stretch>
          </a:blipFill>
        </p:spPr>
      </p:sp>
      <p:grpSp>
        <p:nvGrpSpPr>
          <p:cNvPr id="57" name="Group 57"/>
          <p:cNvGrpSpPr/>
          <p:nvPr/>
        </p:nvGrpSpPr>
        <p:grpSpPr>
          <a:xfrm>
            <a:off x="12149455" y="1223287"/>
            <a:ext cx="5976302" cy="8493404"/>
            <a:chOff x="0" y="0"/>
            <a:chExt cx="1595456" cy="226743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595456" cy="2267430"/>
            </a:xfrm>
            <a:custGeom>
              <a:avLst/>
              <a:gdLst/>
              <a:ahLst/>
              <a:cxnLst/>
              <a:rect l="l" t="t" r="r" b="b"/>
              <a:pathLst>
                <a:path w="1595456" h="2267430">
                  <a:moveTo>
                    <a:pt x="15545" y="0"/>
                  </a:moveTo>
                  <a:lnTo>
                    <a:pt x="1579910" y="0"/>
                  </a:lnTo>
                  <a:cubicBezTo>
                    <a:pt x="1588496" y="0"/>
                    <a:pt x="1595456" y="6960"/>
                    <a:pt x="1595456" y="15545"/>
                  </a:cubicBezTo>
                  <a:lnTo>
                    <a:pt x="1595456" y="2251885"/>
                  </a:lnTo>
                  <a:cubicBezTo>
                    <a:pt x="1595456" y="2260470"/>
                    <a:pt x="1588496" y="2267430"/>
                    <a:pt x="1579910" y="2267430"/>
                  </a:cubicBezTo>
                  <a:lnTo>
                    <a:pt x="15545" y="2267430"/>
                  </a:lnTo>
                  <a:cubicBezTo>
                    <a:pt x="6960" y="2267430"/>
                    <a:pt x="0" y="2260470"/>
                    <a:pt x="0" y="2251885"/>
                  </a:cubicBezTo>
                  <a:lnTo>
                    <a:pt x="0" y="15545"/>
                  </a:lnTo>
                  <a:cubicBezTo>
                    <a:pt x="0" y="6960"/>
                    <a:pt x="6960" y="0"/>
                    <a:pt x="15545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595456" cy="2286480"/>
            </a:xfrm>
            <a:prstGeom prst="rect">
              <a:avLst/>
            </a:prstGeom>
          </p:spPr>
          <p:txBody>
            <a:bodyPr lIns="50117" tIns="50117" rIns="50117" bIns="50117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351129" y="8580838"/>
            <a:ext cx="1486372" cy="953687"/>
            <a:chOff x="0" y="0"/>
            <a:chExt cx="391473" cy="25117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91473" cy="251177"/>
            </a:xfrm>
            <a:custGeom>
              <a:avLst/>
              <a:gdLst/>
              <a:ahLst/>
              <a:cxnLst/>
              <a:rect l="l" t="t" r="r" b="b"/>
              <a:pathLst>
                <a:path w="391473" h="251177">
                  <a:moveTo>
                    <a:pt x="109381" y="0"/>
                  </a:moveTo>
                  <a:lnTo>
                    <a:pt x="282092" y="0"/>
                  </a:lnTo>
                  <a:cubicBezTo>
                    <a:pt x="311101" y="0"/>
                    <a:pt x="338923" y="11524"/>
                    <a:pt x="359436" y="32037"/>
                  </a:cubicBezTo>
                  <a:cubicBezTo>
                    <a:pt x="379949" y="52550"/>
                    <a:pt x="391473" y="80371"/>
                    <a:pt x="391473" y="109381"/>
                  </a:cubicBezTo>
                  <a:lnTo>
                    <a:pt x="391473" y="141796"/>
                  </a:lnTo>
                  <a:cubicBezTo>
                    <a:pt x="391473" y="202205"/>
                    <a:pt x="342501" y="251177"/>
                    <a:pt x="282092" y="251177"/>
                  </a:cubicBezTo>
                  <a:lnTo>
                    <a:pt x="109381" y="251177"/>
                  </a:lnTo>
                  <a:cubicBezTo>
                    <a:pt x="80371" y="251177"/>
                    <a:pt x="52550" y="239653"/>
                    <a:pt x="32037" y="219140"/>
                  </a:cubicBezTo>
                  <a:cubicBezTo>
                    <a:pt x="11524" y="198627"/>
                    <a:pt x="0" y="170806"/>
                    <a:pt x="0" y="141796"/>
                  </a:cubicBezTo>
                  <a:lnTo>
                    <a:pt x="0" y="109381"/>
                  </a:lnTo>
                  <a:cubicBezTo>
                    <a:pt x="0" y="80371"/>
                    <a:pt x="11524" y="52550"/>
                    <a:pt x="32037" y="32037"/>
                  </a:cubicBezTo>
                  <a:cubicBezTo>
                    <a:pt x="52550" y="11524"/>
                    <a:pt x="80371" y="0"/>
                    <a:pt x="109381" y="0"/>
                  </a:cubicBezTo>
                  <a:close/>
                </a:path>
              </a:pathLst>
            </a:custGeom>
            <a:solidFill>
              <a:srgbClr val="E6F6FF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391473" cy="270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2351129" y="8686207"/>
            <a:ext cx="148637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4705" lvl="1" indent="-132353" algn="l">
              <a:lnSpc>
                <a:spcPts val="1471"/>
              </a:lnSpc>
              <a:buFont typeface="Arial"/>
              <a:buChar char="•"/>
            </a:pPr>
            <a:r>
              <a:rPr lang="en-US" sz="1226" b="1">
                <a:solidFill>
                  <a:srgbClr val="004199"/>
                </a:solidFill>
                <a:latin typeface="Garamond Bold"/>
                <a:ea typeface="Garamond Bold"/>
                <a:cs typeface="Garamond Bold"/>
                <a:sym typeface="Garamond Bold"/>
              </a:rPr>
              <a:t>Send approved alerts  </a:t>
            </a:r>
          </a:p>
          <a:p>
            <a:pPr marL="264705" lvl="1" indent="-132353" algn="l">
              <a:lnSpc>
                <a:spcPts val="1471"/>
              </a:lnSpc>
              <a:buFont typeface="Arial"/>
              <a:buChar char="•"/>
            </a:pPr>
            <a:r>
              <a:rPr lang="en-US" sz="1226" b="1">
                <a:solidFill>
                  <a:srgbClr val="004199"/>
                </a:solidFill>
                <a:latin typeface="Garamond Bold"/>
                <a:ea typeface="Garamond Bold"/>
                <a:cs typeface="Garamond Bold"/>
                <a:sym typeface="Garamond Bold"/>
              </a:rPr>
              <a:t>Maintain reports and logs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41040" y="1239571"/>
            <a:ext cx="5901417" cy="8492931"/>
            <a:chOff x="0" y="0"/>
            <a:chExt cx="1575464" cy="226730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575464" cy="2267304"/>
            </a:xfrm>
            <a:custGeom>
              <a:avLst/>
              <a:gdLst/>
              <a:ahLst/>
              <a:cxnLst/>
              <a:rect l="l" t="t" r="r" b="b"/>
              <a:pathLst>
                <a:path w="1575464" h="2267304">
                  <a:moveTo>
                    <a:pt x="15742" y="0"/>
                  </a:moveTo>
                  <a:lnTo>
                    <a:pt x="1559721" y="0"/>
                  </a:lnTo>
                  <a:cubicBezTo>
                    <a:pt x="1568416" y="0"/>
                    <a:pt x="1575464" y="7048"/>
                    <a:pt x="1575464" y="15742"/>
                  </a:cubicBezTo>
                  <a:lnTo>
                    <a:pt x="1575464" y="2251561"/>
                  </a:lnTo>
                  <a:cubicBezTo>
                    <a:pt x="1575464" y="2255737"/>
                    <a:pt x="1573805" y="2259741"/>
                    <a:pt x="1570853" y="2262693"/>
                  </a:cubicBezTo>
                  <a:cubicBezTo>
                    <a:pt x="1567901" y="2265645"/>
                    <a:pt x="1563896" y="2267304"/>
                    <a:pt x="1559721" y="2267304"/>
                  </a:cubicBezTo>
                  <a:lnTo>
                    <a:pt x="15742" y="2267304"/>
                  </a:lnTo>
                  <a:cubicBezTo>
                    <a:pt x="7048" y="2267304"/>
                    <a:pt x="0" y="2260256"/>
                    <a:pt x="0" y="2251561"/>
                  </a:cubicBezTo>
                  <a:lnTo>
                    <a:pt x="0" y="15742"/>
                  </a:lnTo>
                  <a:cubicBezTo>
                    <a:pt x="0" y="11567"/>
                    <a:pt x="1659" y="7563"/>
                    <a:pt x="4611" y="4611"/>
                  </a:cubicBezTo>
                  <a:cubicBezTo>
                    <a:pt x="7563" y="1659"/>
                    <a:pt x="11567" y="0"/>
                    <a:pt x="15742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1575464" cy="2286354"/>
            </a:xfrm>
            <a:prstGeom prst="rect">
              <a:avLst/>
            </a:prstGeom>
          </p:spPr>
          <p:txBody>
            <a:bodyPr lIns="50117" tIns="50117" rIns="50117" bIns="50117" rtlCol="0" anchor="ctr"/>
            <a:lstStyle/>
            <a:p>
              <a:pPr algn="ctr">
                <a:lnSpc>
                  <a:spcPts val="215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128426" y="7788928"/>
            <a:ext cx="4993353" cy="502702"/>
            <a:chOff x="0" y="0"/>
            <a:chExt cx="8168911" cy="82239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68911" cy="822398"/>
            </a:xfrm>
            <a:custGeom>
              <a:avLst/>
              <a:gdLst/>
              <a:ahLst/>
              <a:cxnLst/>
              <a:rect l="l" t="t" r="r" b="b"/>
              <a:pathLst>
                <a:path w="8168911" h="822398">
                  <a:moveTo>
                    <a:pt x="0" y="0"/>
                  </a:moveTo>
                  <a:lnTo>
                    <a:pt x="8168911" y="0"/>
                  </a:lnTo>
                  <a:lnTo>
                    <a:pt x="8168911" y="822398"/>
                  </a:lnTo>
                  <a:lnTo>
                    <a:pt x="0" y="8223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0972" r="-168647" b="-558939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8168911" cy="841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500" b="1" dirty="0">
                  <a:solidFill>
                    <a:srgbClr val="008AF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21" tooltip="https://pravah-ai.onrender.com"/>
                </a:rPr>
                <a:t>🔴</a:t>
              </a:r>
              <a:r>
                <a:rPr lang="en-US" sz="2500" b="1" u="sng" dirty="0">
                  <a:solidFill>
                    <a:srgbClr val="008AF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21" tooltip="https://pravah-ai.onrender.com"/>
                </a:rPr>
                <a:t> Live Demo</a:t>
              </a:r>
              <a:r>
                <a:rPr lang="en-US" sz="2500" dirty="0">
                  <a:solidFill>
                    <a:srgbClr val="008AF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(click)</a:t>
              </a:r>
            </a:p>
          </p:txBody>
        </p:sp>
      </p:grpSp>
      <p:sp>
        <p:nvSpPr>
          <p:cNvPr id="70" name="Freeform 70"/>
          <p:cNvSpPr/>
          <p:nvPr/>
        </p:nvSpPr>
        <p:spPr>
          <a:xfrm rot="-70140" flipH="1">
            <a:off x="7635273" y="6662926"/>
            <a:ext cx="1187317" cy="1009220"/>
          </a:xfrm>
          <a:custGeom>
            <a:avLst/>
            <a:gdLst/>
            <a:ahLst/>
            <a:cxnLst/>
            <a:rect l="l" t="t" r="r" b="b"/>
            <a:pathLst>
              <a:path w="1187317" h="1009220">
                <a:moveTo>
                  <a:pt x="1187318" y="0"/>
                </a:moveTo>
                <a:lnTo>
                  <a:pt x="0" y="0"/>
                </a:lnTo>
                <a:lnTo>
                  <a:pt x="0" y="1009220"/>
                </a:lnTo>
                <a:lnTo>
                  <a:pt x="1187318" y="1009220"/>
                </a:lnTo>
                <a:lnTo>
                  <a:pt x="11873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12072541" y="1899182"/>
            <a:ext cx="6000502" cy="2609516"/>
          </a:xfrm>
          <a:custGeom>
            <a:avLst/>
            <a:gdLst/>
            <a:ahLst/>
            <a:cxnLst/>
            <a:rect l="l" t="t" r="r" b="b"/>
            <a:pathLst>
              <a:path w="6000502" h="2609516">
                <a:moveTo>
                  <a:pt x="0" y="0"/>
                </a:moveTo>
                <a:lnTo>
                  <a:pt x="6000501" y="0"/>
                </a:lnTo>
                <a:lnTo>
                  <a:pt x="6000501" y="2609517"/>
                </a:lnTo>
                <a:lnTo>
                  <a:pt x="0" y="260951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16940" t="-45649" r="-6592" b="-12895"/>
            </a:stretch>
          </a:blipFill>
        </p:spPr>
      </p:sp>
      <p:sp>
        <p:nvSpPr>
          <p:cNvPr id="72" name="TextBox 72"/>
          <p:cNvSpPr txBox="1"/>
          <p:nvPr/>
        </p:nvSpPr>
        <p:spPr>
          <a:xfrm>
            <a:off x="12149455" y="5603155"/>
            <a:ext cx="5923588" cy="401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Select Location: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Choose State, District, and</a:t>
            </a:r>
            <a:r>
              <a:rPr lang="en-US" sz="1479" b="1">
                <a:solidFill>
                  <a:srgbClr val="96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Village/Area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 flood-risk assessment.</a:t>
            </a:r>
          </a:p>
          <a:p>
            <a:pPr algn="just">
              <a:lnSpc>
                <a:spcPts val="1597"/>
              </a:lnSpc>
            </a:pPr>
            <a:endParaRPr lang="en-US" sz="14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Select Date: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Choose the date for prediction.</a:t>
            </a:r>
          </a:p>
          <a:p>
            <a:pPr algn="just">
              <a:lnSpc>
                <a:spcPts val="1597"/>
              </a:lnSpc>
            </a:pPr>
            <a:endParaRPr lang="en-US" sz="14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Select Lead Time: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 the</a:t>
            </a:r>
            <a:r>
              <a:rPr lang="en-US" sz="1479" b="1">
                <a:solidFill>
                  <a:srgbClr val="96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prediction window, 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Next 3 Hours.</a:t>
            </a:r>
          </a:p>
          <a:p>
            <a:pPr algn="just">
              <a:lnSpc>
                <a:spcPts val="1597"/>
              </a:lnSpc>
            </a:pPr>
            <a:endParaRPr lang="en-US" sz="14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Submit Request: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Submit the selected details for PRAVAH AI analysis.</a:t>
            </a:r>
          </a:p>
          <a:p>
            <a:pPr algn="just">
              <a:lnSpc>
                <a:spcPts val="1597"/>
              </a:lnSpc>
            </a:pPr>
            <a:endParaRPr lang="en-US" sz="14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 Risk Assessment: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View the predicted risk score and category.</a:t>
            </a:r>
          </a:p>
          <a:p>
            <a:pPr algn="just">
              <a:lnSpc>
                <a:spcPts val="1597"/>
              </a:lnSpc>
            </a:pPr>
            <a:endParaRPr lang="en-US" sz="14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 Risk Map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View the </a:t>
            </a:r>
            <a:r>
              <a:rPr lang="en-US" sz="147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map 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potentially affected areas.</a:t>
            </a:r>
          </a:p>
          <a:p>
            <a:pPr algn="just">
              <a:lnSpc>
                <a:spcPts val="1597"/>
              </a:lnSpc>
            </a:pPr>
            <a:endParaRPr lang="en-US" sz="14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Receive Alerts &amp; Warnings: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Get alerts when significant flood risk is detected.</a:t>
            </a:r>
          </a:p>
          <a:p>
            <a:pPr algn="just">
              <a:lnSpc>
                <a:spcPts val="1597"/>
              </a:lnSpc>
            </a:pPr>
            <a:endParaRPr lang="en-US" sz="14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Check Safe Routes &amp; Shelters: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View safer routes and available shelters.</a:t>
            </a:r>
          </a:p>
          <a:p>
            <a:pPr algn="just">
              <a:lnSpc>
                <a:spcPts val="1597"/>
              </a:lnSpc>
            </a:pPr>
            <a:endParaRPr lang="en-US" sz="14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9434" lvl="1" indent="-159717" algn="just">
              <a:lnSpc>
                <a:spcPts val="1597"/>
              </a:lnSpc>
              <a:buFont typeface="Arial"/>
              <a:buChar char="•"/>
            </a:pPr>
            <a:r>
              <a:rPr lang="en-US" sz="14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Access Reports &amp; History: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79" b="1">
                <a:solidFill>
                  <a:srgbClr val="96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 generated reports</a:t>
            </a:r>
            <a:r>
              <a:rPr lang="en-US" sz="14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previous risk information.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477624" y="4647437"/>
            <a:ext cx="5292428" cy="7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2803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Pravah AI : User Flow</a:t>
            </a:r>
          </a:p>
        </p:txBody>
      </p:sp>
      <p:sp>
        <p:nvSpPr>
          <p:cNvPr id="74" name="Freeform 74"/>
          <p:cNvSpPr/>
          <p:nvPr/>
        </p:nvSpPr>
        <p:spPr>
          <a:xfrm>
            <a:off x="8640787" y="4508699"/>
            <a:ext cx="3836837" cy="4593431"/>
          </a:xfrm>
          <a:custGeom>
            <a:avLst/>
            <a:gdLst/>
            <a:ahLst/>
            <a:cxnLst/>
            <a:rect l="l" t="t" r="r" b="b"/>
            <a:pathLst>
              <a:path w="3836837" h="4593431">
                <a:moveTo>
                  <a:pt x="0" y="0"/>
                </a:moveTo>
                <a:lnTo>
                  <a:pt x="3836837" y="0"/>
                </a:lnTo>
                <a:lnTo>
                  <a:pt x="3836837" y="4593431"/>
                </a:lnTo>
                <a:lnTo>
                  <a:pt x="0" y="459343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1971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03585" y="1275317"/>
            <a:ext cx="8434257" cy="4731564"/>
            <a:chOff x="0" y="0"/>
            <a:chExt cx="2221368" cy="124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1368" cy="1246173"/>
            </a:xfrm>
            <a:custGeom>
              <a:avLst/>
              <a:gdLst/>
              <a:ahLst/>
              <a:cxnLst/>
              <a:rect l="l" t="t" r="r" b="b"/>
              <a:pathLst>
                <a:path w="2221368" h="1246173">
                  <a:moveTo>
                    <a:pt x="11015" y="0"/>
                  </a:moveTo>
                  <a:lnTo>
                    <a:pt x="2210353" y="0"/>
                  </a:lnTo>
                  <a:cubicBezTo>
                    <a:pt x="2216436" y="0"/>
                    <a:pt x="2221368" y="4932"/>
                    <a:pt x="2221368" y="11015"/>
                  </a:cubicBezTo>
                  <a:lnTo>
                    <a:pt x="2221368" y="1235158"/>
                  </a:lnTo>
                  <a:cubicBezTo>
                    <a:pt x="2221368" y="1241242"/>
                    <a:pt x="2216436" y="1246173"/>
                    <a:pt x="2210353" y="1246173"/>
                  </a:cubicBezTo>
                  <a:lnTo>
                    <a:pt x="11015" y="1246173"/>
                  </a:lnTo>
                  <a:cubicBezTo>
                    <a:pt x="4932" y="1246173"/>
                    <a:pt x="0" y="1241242"/>
                    <a:pt x="0" y="1235158"/>
                  </a:cubicBezTo>
                  <a:lnTo>
                    <a:pt x="0" y="11015"/>
                  </a:lnTo>
                  <a:cubicBezTo>
                    <a:pt x="0" y="4932"/>
                    <a:pt x="4932" y="0"/>
                    <a:pt x="11015" y="0"/>
                  </a:cubicBezTo>
                  <a:close/>
                </a:path>
              </a:pathLst>
            </a:custGeom>
            <a:solidFill>
              <a:srgbClr val="C7DFED">
                <a:alpha val="1569"/>
              </a:srgbClr>
            </a:solidFill>
            <a:ln w="9525" cap="sq">
              <a:solidFill>
                <a:srgbClr val="0054B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221368" cy="126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40108" y="4592707"/>
            <a:ext cx="19062462" cy="7476526"/>
          </a:xfrm>
          <a:custGeom>
            <a:avLst/>
            <a:gdLst/>
            <a:ahLst/>
            <a:cxnLst/>
            <a:rect l="l" t="t" r="r" b="b"/>
            <a:pathLst>
              <a:path w="19062462" h="7476526">
                <a:moveTo>
                  <a:pt x="0" y="0"/>
                </a:moveTo>
                <a:lnTo>
                  <a:pt x="19062462" y="0"/>
                </a:lnTo>
                <a:lnTo>
                  <a:pt x="19062462" y="7476527"/>
                </a:lnTo>
                <a:lnTo>
                  <a:pt x="0" y="74765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-1895" r="-1895" b="-1378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23260" y="5855188"/>
            <a:ext cx="7919876" cy="4027095"/>
            <a:chOff x="0" y="0"/>
            <a:chExt cx="2085893" cy="10606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5893" cy="1060634"/>
            </a:xfrm>
            <a:custGeom>
              <a:avLst/>
              <a:gdLst/>
              <a:ahLst/>
              <a:cxnLst/>
              <a:rect l="l" t="t" r="r" b="b"/>
              <a:pathLst>
                <a:path w="2085893" h="1060634">
                  <a:moveTo>
                    <a:pt x="11730" y="0"/>
                  </a:moveTo>
                  <a:lnTo>
                    <a:pt x="2074163" y="0"/>
                  </a:lnTo>
                  <a:cubicBezTo>
                    <a:pt x="2080642" y="0"/>
                    <a:pt x="2085893" y="5252"/>
                    <a:pt x="2085893" y="11730"/>
                  </a:cubicBezTo>
                  <a:lnTo>
                    <a:pt x="2085893" y="1048904"/>
                  </a:lnTo>
                  <a:cubicBezTo>
                    <a:pt x="2085893" y="1055382"/>
                    <a:pt x="2080642" y="1060634"/>
                    <a:pt x="2074163" y="1060634"/>
                  </a:cubicBezTo>
                  <a:lnTo>
                    <a:pt x="11730" y="1060634"/>
                  </a:lnTo>
                  <a:cubicBezTo>
                    <a:pt x="5252" y="1060634"/>
                    <a:pt x="0" y="1055382"/>
                    <a:pt x="0" y="1048904"/>
                  </a:cubicBezTo>
                  <a:lnTo>
                    <a:pt x="0" y="11730"/>
                  </a:lnTo>
                  <a:cubicBezTo>
                    <a:pt x="0" y="5252"/>
                    <a:pt x="5252" y="0"/>
                    <a:pt x="11730" y="0"/>
                  </a:cubicBezTo>
                  <a:close/>
                </a:path>
              </a:pathLst>
            </a:custGeom>
            <a:solidFill>
              <a:srgbClr val="C7DFED">
                <a:alpha val="1569"/>
              </a:srgbClr>
            </a:solidFill>
            <a:ln w="9525" cap="sq">
              <a:solidFill>
                <a:srgbClr val="0054B7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85893" cy="1079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3260" y="1263834"/>
            <a:ext cx="8379187" cy="4315168"/>
            <a:chOff x="0" y="0"/>
            <a:chExt cx="2206864" cy="11365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6864" cy="1136505"/>
            </a:xfrm>
            <a:custGeom>
              <a:avLst/>
              <a:gdLst/>
              <a:ahLst/>
              <a:cxnLst/>
              <a:rect l="l" t="t" r="r" b="b"/>
              <a:pathLst>
                <a:path w="2206864" h="1136505">
                  <a:moveTo>
                    <a:pt x="11087" y="0"/>
                  </a:moveTo>
                  <a:lnTo>
                    <a:pt x="2195777" y="0"/>
                  </a:lnTo>
                  <a:cubicBezTo>
                    <a:pt x="2198717" y="0"/>
                    <a:pt x="2201538" y="1168"/>
                    <a:pt x="2203617" y="3247"/>
                  </a:cubicBezTo>
                  <a:cubicBezTo>
                    <a:pt x="2205696" y="5327"/>
                    <a:pt x="2206864" y="8147"/>
                    <a:pt x="2206864" y="11087"/>
                  </a:cubicBezTo>
                  <a:lnTo>
                    <a:pt x="2206864" y="1125418"/>
                  </a:lnTo>
                  <a:cubicBezTo>
                    <a:pt x="2206864" y="1128358"/>
                    <a:pt x="2205696" y="1131179"/>
                    <a:pt x="2203617" y="1133258"/>
                  </a:cubicBezTo>
                  <a:cubicBezTo>
                    <a:pt x="2201538" y="1135337"/>
                    <a:pt x="2198717" y="1136505"/>
                    <a:pt x="2195777" y="1136505"/>
                  </a:cubicBezTo>
                  <a:lnTo>
                    <a:pt x="11087" y="1136505"/>
                  </a:lnTo>
                  <a:cubicBezTo>
                    <a:pt x="8147" y="1136505"/>
                    <a:pt x="5327" y="1135337"/>
                    <a:pt x="3247" y="1133258"/>
                  </a:cubicBezTo>
                  <a:cubicBezTo>
                    <a:pt x="1168" y="1131179"/>
                    <a:pt x="0" y="1128358"/>
                    <a:pt x="0" y="1125418"/>
                  </a:cubicBezTo>
                  <a:lnTo>
                    <a:pt x="0" y="11087"/>
                  </a:lnTo>
                  <a:cubicBezTo>
                    <a:pt x="0" y="8147"/>
                    <a:pt x="1168" y="5327"/>
                    <a:pt x="3247" y="3247"/>
                  </a:cubicBezTo>
                  <a:cubicBezTo>
                    <a:pt x="5327" y="1168"/>
                    <a:pt x="8147" y="0"/>
                    <a:pt x="11087" y="0"/>
                  </a:cubicBezTo>
                  <a:close/>
                </a:path>
              </a:pathLst>
            </a:custGeom>
            <a:solidFill>
              <a:srgbClr val="C7DFED">
                <a:alpha val="1569"/>
              </a:srgbClr>
            </a:solidFill>
            <a:ln w="9525" cap="sq">
              <a:solidFill>
                <a:srgbClr val="0054B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06864" cy="1155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91048" y="6361491"/>
            <a:ext cx="9389828" cy="3554534"/>
            <a:chOff x="0" y="0"/>
            <a:chExt cx="2473041" cy="9361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3041" cy="936173"/>
            </a:xfrm>
            <a:custGeom>
              <a:avLst/>
              <a:gdLst/>
              <a:ahLst/>
              <a:cxnLst/>
              <a:rect l="l" t="t" r="r" b="b"/>
              <a:pathLst>
                <a:path w="2473041" h="936173">
                  <a:moveTo>
                    <a:pt x="9894" y="0"/>
                  </a:moveTo>
                  <a:lnTo>
                    <a:pt x="2463147" y="0"/>
                  </a:lnTo>
                  <a:cubicBezTo>
                    <a:pt x="2468611" y="0"/>
                    <a:pt x="2473041" y="4430"/>
                    <a:pt x="2473041" y="9894"/>
                  </a:cubicBezTo>
                  <a:lnTo>
                    <a:pt x="2473041" y="926280"/>
                  </a:lnTo>
                  <a:cubicBezTo>
                    <a:pt x="2473041" y="928903"/>
                    <a:pt x="2471999" y="931420"/>
                    <a:pt x="2470143" y="933276"/>
                  </a:cubicBezTo>
                  <a:cubicBezTo>
                    <a:pt x="2468288" y="935131"/>
                    <a:pt x="2465771" y="936173"/>
                    <a:pt x="2463147" y="936173"/>
                  </a:cubicBezTo>
                  <a:lnTo>
                    <a:pt x="9894" y="936173"/>
                  </a:lnTo>
                  <a:cubicBezTo>
                    <a:pt x="7270" y="936173"/>
                    <a:pt x="4753" y="935131"/>
                    <a:pt x="2898" y="933276"/>
                  </a:cubicBezTo>
                  <a:cubicBezTo>
                    <a:pt x="1042" y="931420"/>
                    <a:pt x="0" y="928903"/>
                    <a:pt x="0" y="926280"/>
                  </a:cubicBezTo>
                  <a:lnTo>
                    <a:pt x="0" y="9894"/>
                  </a:lnTo>
                  <a:cubicBezTo>
                    <a:pt x="0" y="7270"/>
                    <a:pt x="1042" y="4753"/>
                    <a:pt x="2898" y="2898"/>
                  </a:cubicBezTo>
                  <a:cubicBezTo>
                    <a:pt x="4753" y="1042"/>
                    <a:pt x="7270" y="0"/>
                    <a:pt x="9894" y="0"/>
                  </a:cubicBezTo>
                  <a:close/>
                </a:path>
              </a:pathLst>
            </a:custGeom>
            <a:solidFill>
              <a:srgbClr val="C7DFED">
                <a:alpha val="1569"/>
              </a:srgbClr>
            </a:solidFill>
            <a:ln w="9525" cap="sq">
              <a:solidFill>
                <a:srgbClr val="0054B7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473041" cy="95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801592" y="9733883"/>
            <a:ext cx="4267200" cy="547802"/>
          </a:xfrm>
          <a:custGeom>
            <a:avLst/>
            <a:gdLst/>
            <a:ahLst/>
            <a:cxnLst/>
            <a:rect l="l" t="t" r="r" b="b"/>
            <a:pathLst>
              <a:path w="4267200" h="547802">
                <a:moveTo>
                  <a:pt x="0" y="0"/>
                </a:moveTo>
                <a:lnTo>
                  <a:pt x="4267200" y="0"/>
                </a:lnTo>
                <a:lnTo>
                  <a:pt x="4267200" y="547802"/>
                </a:lnTo>
                <a:lnTo>
                  <a:pt x="0" y="5478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770041" y="901503"/>
            <a:ext cx="5921007" cy="969797"/>
          </a:xfrm>
          <a:custGeom>
            <a:avLst/>
            <a:gdLst/>
            <a:ahLst/>
            <a:cxnLst/>
            <a:rect l="l" t="t" r="r" b="b"/>
            <a:pathLst>
              <a:path w="5921007" h="969797">
                <a:moveTo>
                  <a:pt x="0" y="0"/>
                </a:moveTo>
                <a:lnTo>
                  <a:pt x="5921007" y="0"/>
                </a:lnTo>
                <a:lnTo>
                  <a:pt x="5921007" y="969798"/>
                </a:lnTo>
                <a:lnTo>
                  <a:pt x="0" y="969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160474" y="1193883"/>
            <a:ext cx="7182" cy="3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"/>
              </a:lnSpc>
            </a:pPr>
            <a:r>
              <a:rPr lang="en-US" sz="1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68498" y="1193883"/>
            <a:ext cx="5382520" cy="3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"/>
              </a:lnSpc>
            </a:pPr>
            <a:r>
              <a:rPr lang="en-US" sz="1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equipment health monitoring, AI-driven anomaly detection, adaptive control, process modeling, environmental sustainability, mining modernization, Industry 4.0, real-time decision support,machinelearningregressionmodels,powerusageefficiency,vibrationanalysis,energybenchmarking,predictiveanalytics,bigdatainmining,AI-enabledmaintenance,digitaltransformationinmining,processoptimizationframework,integratedenergymonitoringsystem,optimization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68498" y="1224363"/>
            <a:ext cx="4142804" cy="3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"/>
              </a:lnSpc>
            </a:pPr>
            <a:r>
              <a:rPr lang="en-US" sz="1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pipeline, AI algorithm for throughput, automated reporting, dashboard visualization, safety and compliance, production planning, energy efficiency metrics, energy intensity reduction, processvariabilitycontrol,industrialdataingestionpipeline,communicationnetworkinmining,scalablesoftwarearchitecture,secureAPIlayer,front-enddashboard,React,Node.js,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469047" y="109599"/>
            <a:ext cx="2468795" cy="1165718"/>
            <a:chOff x="0" y="0"/>
            <a:chExt cx="4499699" cy="21246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3777453" y="44253"/>
            <a:ext cx="10348646" cy="1714500"/>
            <a:chOff x="0" y="0"/>
            <a:chExt cx="13798194" cy="2286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798195" cy="2286000"/>
            </a:xfrm>
            <a:custGeom>
              <a:avLst/>
              <a:gdLst/>
              <a:ahLst/>
              <a:cxnLst/>
              <a:rect l="l" t="t" r="r" b="b"/>
              <a:pathLst>
                <a:path w="13798195" h="2286000">
                  <a:moveTo>
                    <a:pt x="0" y="0"/>
                  </a:moveTo>
                  <a:lnTo>
                    <a:pt x="13798195" y="0"/>
                  </a:lnTo>
                  <a:lnTo>
                    <a:pt x="13798195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37056" r="-59046" b="-13705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04775"/>
              <a:ext cx="13798194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618" y="109599"/>
            <a:ext cx="2717424" cy="994964"/>
            <a:chOff x="0" y="0"/>
            <a:chExt cx="4548683" cy="1665465"/>
          </a:xfrm>
        </p:grpSpPr>
        <p:sp>
          <p:nvSpPr>
            <p:cNvPr id="26" name="Freeform 26" descr="Your startup LOGO"/>
            <p:cNvSpPr/>
            <p:nvPr/>
          </p:nvSpPr>
          <p:spPr>
            <a:xfrm>
              <a:off x="0" y="0"/>
              <a:ext cx="4548615" cy="1665478"/>
            </a:xfrm>
            <a:custGeom>
              <a:avLst/>
              <a:gdLst/>
              <a:ahLst/>
              <a:cxnLst/>
              <a:rect l="l" t="t" r="r" b="b"/>
              <a:pathLst>
                <a:path w="4548615" h="1665478">
                  <a:moveTo>
                    <a:pt x="0" y="832739"/>
                  </a:moveTo>
                  <a:cubicBezTo>
                    <a:pt x="0" y="372872"/>
                    <a:pt x="1018316" y="0"/>
                    <a:pt x="2274307" y="0"/>
                  </a:cubicBezTo>
                  <a:cubicBezTo>
                    <a:pt x="3530299" y="0"/>
                    <a:pt x="4548615" y="372872"/>
                    <a:pt x="4548615" y="832739"/>
                  </a:cubicBezTo>
                  <a:cubicBezTo>
                    <a:pt x="4548615" y="1292606"/>
                    <a:pt x="3530299" y="1665478"/>
                    <a:pt x="2274307" y="1665478"/>
                  </a:cubicBezTo>
                  <a:cubicBezTo>
                    <a:pt x="1018316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4548683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INTELLIVERSE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37140" y="5864713"/>
            <a:ext cx="691560" cy="691560"/>
            <a:chOff x="0" y="0"/>
            <a:chExt cx="366395" cy="36639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0" y="0"/>
                  </a:moveTo>
                  <a:lnTo>
                    <a:pt x="366395" y="0"/>
                  </a:lnTo>
                  <a:lnTo>
                    <a:pt x="366395" y="366395"/>
                  </a:lnTo>
                  <a:lnTo>
                    <a:pt x="0" y="366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397371" y="1423980"/>
            <a:ext cx="859094" cy="702303"/>
            <a:chOff x="0" y="0"/>
            <a:chExt cx="448193" cy="36639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48193" cy="366395"/>
            </a:xfrm>
            <a:custGeom>
              <a:avLst/>
              <a:gdLst/>
              <a:ahLst/>
              <a:cxnLst/>
              <a:rect l="l" t="t" r="r" b="b"/>
              <a:pathLst>
                <a:path w="448193" h="366395">
                  <a:moveTo>
                    <a:pt x="0" y="0"/>
                  </a:moveTo>
                  <a:lnTo>
                    <a:pt x="448193" y="0"/>
                  </a:lnTo>
                  <a:lnTo>
                    <a:pt x="448193" y="366395"/>
                  </a:lnTo>
                  <a:lnTo>
                    <a:pt x="0" y="366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1162" b="-11162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9736106" y="1423980"/>
            <a:ext cx="635628" cy="635628"/>
            <a:chOff x="0" y="0"/>
            <a:chExt cx="366395" cy="36639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0" y="0"/>
                  </a:moveTo>
                  <a:lnTo>
                    <a:pt x="366395" y="0"/>
                  </a:lnTo>
                  <a:lnTo>
                    <a:pt x="366395" y="366395"/>
                  </a:lnTo>
                  <a:lnTo>
                    <a:pt x="0" y="366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0447857" y="1587243"/>
            <a:ext cx="3770233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u="sng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Challenges &amp; Mitigations :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48723" y="3205886"/>
            <a:ext cx="5715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71734" y="3971677"/>
            <a:ext cx="5715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33875" y="2338019"/>
            <a:ext cx="8242873" cy="3668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3387" lvl="1" indent="-216694" algn="l">
              <a:lnSpc>
                <a:spcPts val="2770"/>
              </a:lnSpc>
              <a:buFont typeface="Arial"/>
              <a:buChar char="•"/>
            </a:pPr>
            <a:r>
              <a:rPr lang="en-US" sz="2007" b="1" spc="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Scarcity</a:t>
            </a:r>
            <a:r>
              <a:rPr lang="en-US" sz="2007" b="1" u="sng" spc="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  <a:r>
              <a:rPr lang="en-US" sz="2007" b="1" spc="18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Limited flood-event data</a:t>
            </a:r>
            <a:r>
              <a:rPr lang="en-US" sz="2007" b="1" spc="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2007" spc="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can restrict model learning. Multiple data sources strengthen training.</a:t>
            </a:r>
          </a:p>
          <a:p>
            <a:pPr algn="l">
              <a:lnSpc>
                <a:spcPts val="1465"/>
              </a:lnSpc>
            </a:pPr>
            <a:endParaRPr lang="en-US" sz="2007" spc="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33387" lvl="1" indent="-216694" algn="l">
              <a:lnSpc>
                <a:spcPts val="2770"/>
              </a:lnSpc>
              <a:buFont typeface="Arial"/>
              <a:buChar char="•"/>
            </a:pPr>
            <a:r>
              <a:rPr lang="en-US" sz="2007" b="1" spc="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Limited ground data:</a:t>
            </a:r>
            <a:r>
              <a:rPr lang="en-US" sz="2007" spc="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Public data initially; more sensors can be added later.</a:t>
            </a:r>
          </a:p>
          <a:p>
            <a:pPr algn="l">
              <a:lnSpc>
                <a:spcPts val="1987"/>
              </a:lnSpc>
            </a:pPr>
            <a:endParaRPr lang="en-US" sz="2007" spc="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33387" lvl="1" indent="-216694" algn="l">
              <a:lnSpc>
                <a:spcPts val="2770"/>
              </a:lnSpc>
              <a:buFont typeface="Arial"/>
              <a:buChar char="•"/>
            </a:pPr>
            <a:r>
              <a:rPr lang="en-US" sz="2007" b="1" spc="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False Alarms:</a:t>
            </a:r>
            <a:r>
              <a:rPr lang="en-US" sz="2007" spc="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Incorrect warnings may reduce confidence. </a:t>
            </a:r>
            <a:r>
              <a:rPr lang="en-US" sz="2007" b="1" spc="18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Probability-based risk classification</a:t>
            </a:r>
            <a:r>
              <a:rPr lang="en-US" sz="2007" spc="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continuous validation improve reliability.</a:t>
            </a:r>
          </a:p>
          <a:p>
            <a:pPr algn="l">
              <a:lnSpc>
                <a:spcPts val="1003"/>
              </a:lnSpc>
            </a:pPr>
            <a:endParaRPr lang="en-US" sz="2007" spc="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33387" lvl="1" indent="-216694" algn="l">
              <a:lnSpc>
                <a:spcPts val="2770"/>
              </a:lnSpc>
              <a:buFont typeface="Arial"/>
              <a:buChar char="•"/>
            </a:pPr>
            <a:r>
              <a:rPr lang="en-US" sz="2007" b="1" spc="1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User Trust &amp; Adoption:</a:t>
            </a:r>
            <a:r>
              <a:rPr lang="en-US" sz="2007" spc="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AI predictions may be difficult to understand. </a:t>
            </a:r>
            <a:r>
              <a:rPr lang="en-US" sz="2007" b="1" spc="18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SHAP-based explanations</a:t>
            </a:r>
            <a:r>
              <a:rPr lang="en-US" sz="2007" spc="1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make predictions transparent.</a:t>
            </a:r>
          </a:p>
          <a:p>
            <a:pPr algn="l">
              <a:lnSpc>
                <a:spcPts val="2770"/>
              </a:lnSpc>
            </a:pPr>
            <a:endParaRPr lang="en-US" sz="2007" spc="1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8748555" y="6456904"/>
            <a:ext cx="714684" cy="538405"/>
            <a:chOff x="0" y="0"/>
            <a:chExt cx="484772" cy="36520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4759" cy="365252"/>
            </a:xfrm>
            <a:custGeom>
              <a:avLst/>
              <a:gdLst/>
              <a:ahLst/>
              <a:cxnLst/>
              <a:rect l="l" t="t" r="r" b="b"/>
              <a:pathLst>
                <a:path w="484759" h="365252">
                  <a:moveTo>
                    <a:pt x="0" y="0"/>
                  </a:moveTo>
                  <a:lnTo>
                    <a:pt x="484759" y="0"/>
                  </a:lnTo>
                  <a:lnTo>
                    <a:pt x="484759" y="365252"/>
                  </a:lnTo>
                  <a:lnTo>
                    <a:pt x="0" y="36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9815" r="-2" b="-41119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9503585" y="6461023"/>
            <a:ext cx="1935051" cy="47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9" b="1" u="sng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Use Cases :  </a:t>
            </a:r>
          </a:p>
        </p:txBody>
      </p:sp>
      <p:sp>
        <p:nvSpPr>
          <p:cNvPr id="41" name="Freeform 41"/>
          <p:cNvSpPr/>
          <p:nvPr/>
        </p:nvSpPr>
        <p:spPr>
          <a:xfrm>
            <a:off x="13392005" y="6556273"/>
            <a:ext cx="5086374" cy="3526536"/>
          </a:xfrm>
          <a:custGeom>
            <a:avLst/>
            <a:gdLst/>
            <a:ahLst/>
            <a:cxnLst/>
            <a:rect l="l" t="t" r="r" b="b"/>
            <a:pathLst>
              <a:path w="5086374" h="3526536">
                <a:moveTo>
                  <a:pt x="0" y="0"/>
                </a:moveTo>
                <a:lnTo>
                  <a:pt x="5086374" y="0"/>
                </a:lnTo>
                <a:lnTo>
                  <a:pt x="5086374" y="3526536"/>
                </a:lnTo>
                <a:lnTo>
                  <a:pt x="0" y="35265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3590" b="-4111"/>
            </a:stretch>
          </a:blipFill>
        </p:spPr>
      </p:sp>
      <p:grpSp>
        <p:nvGrpSpPr>
          <p:cNvPr id="42" name="Group 42"/>
          <p:cNvGrpSpPr/>
          <p:nvPr/>
        </p:nvGrpSpPr>
        <p:grpSpPr>
          <a:xfrm>
            <a:off x="15260208" y="7677457"/>
            <a:ext cx="901136" cy="923296"/>
            <a:chOff x="0" y="0"/>
            <a:chExt cx="233482" cy="23922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33482" cy="239224"/>
            </a:xfrm>
            <a:custGeom>
              <a:avLst/>
              <a:gdLst/>
              <a:ahLst/>
              <a:cxnLst/>
              <a:rect l="l" t="t" r="r" b="b"/>
              <a:pathLst>
                <a:path w="233482" h="239224">
                  <a:moveTo>
                    <a:pt x="68730" y="0"/>
                  </a:moveTo>
                  <a:lnTo>
                    <a:pt x="164752" y="0"/>
                  </a:lnTo>
                  <a:cubicBezTo>
                    <a:pt x="182980" y="0"/>
                    <a:pt x="200462" y="7241"/>
                    <a:pt x="213351" y="20131"/>
                  </a:cubicBezTo>
                  <a:cubicBezTo>
                    <a:pt x="226241" y="33020"/>
                    <a:pt x="233482" y="50502"/>
                    <a:pt x="233482" y="68730"/>
                  </a:cubicBezTo>
                  <a:lnTo>
                    <a:pt x="233482" y="170493"/>
                  </a:lnTo>
                  <a:cubicBezTo>
                    <a:pt x="233482" y="188722"/>
                    <a:pt x="226241" y="206204"/>
                    <a:pt x="213351" y="219093"/>
                  </a:cubicBezTo>
                  <a:cubicBezTo>
                    <a:pt x="200462" y="231982"/>
                    <a:pt x="182980" y="239224"/>
                    <a:pt x="164752" y="239224"/>
                  </a:cubicBezTo>
                  <a:lnTo>
                    <a:pt x="68730" y="239224"/>
                  </a:lnTo>
                  <a:cubicBezTo>
                    <a:pt x="50502" y="239224"/>
                    <a:pt x="33020" y="231982"/>
                    <a:pt x="20131" y="219093"/>
                  </a:cubicBezTo>
                  <a:cubicBezTo>
                    <a:pt x="7241" y="206204"/>
                    <a:pt x="0" y="188722"/>
                    <a:pt x="0" y="170493"/>
                  </a:cubicBezTo>
                  <a:lnTo>
                    <a:pt x="0" y="68730"/>
                  </a:lnTo>
                  <a:cubicBezTo>
                    <a:pt x="0" y="50502"/>
                    <a:pt x="7241" y="33020"/>
                    <a:pt x="20131" y="20131"/>
                  </a:cubicBezTo>
                  <a:cubicBezTo>
                    <a:pt x="33020" y="7241"/>
                    <a:pt x="50502" y="0"/>
                    <a:pt x="68730" y="0"/>
                  </a:cubicBezTo>
                  <a:close/>
                </a:path>
              </a:pathLst>
            </a:custGeom>
            <a:solidFill>
              <a:srgbClr val="E6F6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33482" cy="277324"/>
            </a:xfrm>
            <a:prstGeom prst="rect">
              <a:avLst/>
            </a:prstGeom>
          </p:spPr>
          <p:txBody>
            <a:bodyPr lIns="51639" tIns="51639" rIns="51639" bIns="51639" rtlCol="0" anchor="ctr"/>
            <a:lstStyle/>
            <a:p>
              <a:pPr algn="ctr">
                <a:lnSpc>
                  <a:spcPts val="245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5314669" y="7726348"/>
            <a:ext cx="845585" cy="640064"/>
          </a:xfrm>
          <a:custGeom>
            <a:avLst/>
            <a:gdLst/>
            <a:ahLst/>
            <a:cxnLst/>
            <a:rect l="l" t="t" r="r" b="b"/>
            <a:pathLst>
              <a:path w="845585" h="640064">
                <a:moveTo>
                  <a:pt x="0" y="0"/>
                </a:moveTo>
                <a:lnTo>
                  <a:pt x="845585" y="0"/>
                </a:lnTo>
                <a:lnTo>
                  <a:pt x="845585" y="640064"/>
                </a:lnTo>
                <a:lnTo>
                  <a:pt x="0" y="6400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610" r="-1610"/>
            </a:stretch>
          </a:blipFill>
          <a:ln cap="sq">
            <a:noFill/>
            <a:prstDash val="solid"/>
            <a:miter/>
          </a:ln>
        </p:spPr>
      </p:sp>
      <p:sp>
        <p:nvSpPr>
          <p:cNvPr id="46" name="TextBox 46"/>
          <p:cNvSpPr txBox="1"/>
          <p:nvPr/>
        </p:nvSpPr>
        <p:spPr>
          <a:xfrm>
            <a:off x="15233523" y="8337837"/>
            <a:ext cx="954506" cy="20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4"/>
              </a:lnSpc>
              <a:spcBef>
                <a:spcPct val="0"/>
              </a:spcBef>
            </a:pPr>
            <a:r>
              <a:rPr lang="en-US" sz="1148" spc="76">
                <a:solidFill>
                  <a:srgbClr val="1F497D"/>
                </a:solidFill>
                <a:latin typeface="Waterlily"/>
                <a:ea typeface="Waterlily"/>
                <a:cs typeface="Waterlily"/>
                <a:sym typeface="Waterlily"/>
              </a:rPr>
              <a:t>PRAVAH AI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815655" y="9818980"/>
            <a:ext cx="122187" cy="328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8700" y="6036163"/>
            <a:ext cx="1681977" cy="49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2653" b="1" u="sng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Viability :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37140" y="1508541"/>
            <a:ext cx="12290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15624" y="1472308"/>
            <a:ext cx="1965022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749" b="1" u="sng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Feasibility :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111902" y="1714157"/>
            <a:ext cx="5715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869147" y="3554787"/>
            <a:ext cx="82629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74476" y="2107233"/>
            <a:ext cx="7976542" cy="32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3010" lvl="1" indent="-236505" algn="l">
              <a:lnSpc>
                <a:spcPts val="2388"/>
              </a:lnSpc>
              <a:buFont typeface="Arial"/>
              <a:buChar char="•"/>
            </a:pPr>
            <a:r>
              <a:rPr lang="en-US" sz="2190" b="1" spc="19">
                <a:solidFill>
                  <a:srgbClr val="0A0A0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Development :</a:t>
            </a:r>
            <a:r>
              <a:rPr lang="en-US" sz="2190" spc="19">
                <a:solidFill>
                  <a:srgbClr val="0A0A0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MVP with AI prediction</a:t>
            </a:r>
            <a:r>
              <a:rPr lang="en-US" sz="2190" spc="19">
                <a:solidFill>
                  <a:srgbClr val="C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</a:t>
            </a:r>
            <a:r>
              <a:rPr lang="en-US" sz="2190" spc="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dashboard, risk maps and alerts can be </a:t>
            </a:r>
            <a:r>
              <a:rPr lang="en-US" sz="2190" spc="19">
                <a:solidFill>
                  <a:srgbClr val="C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developed in 6–8 weeks.</a:t>
            </a:r>
          </a:p>
          <a:p>
            <a:pPr algn="l">
              <a:lnSpc>
                <a:spcPts val="2388"/>
              </a:lnSpc>
            </a:pPr>
            <a:endParaRPr lang="en-US" sz="2190" spc="19">
              <a:solidFill>
                <a:srgbClr val="C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3009" lvl="1" indent="-236504" algn="l">
              <a:lnSpc>
                <a:spcPts val="2388"/>
              </a:lnSpc>
              <a:buFont typeface="Arial"/>
              <a:buChar char="•"/>
            </a:pPr>
            <a:r>
              <a:rPr lang="en-US" sz="2190" b="1" spc="1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Feasibility </a:t>
            </a:r>
            <a:r>
              <a:rPr lang="en-US" sz="2190" b="1" u="sng" spc="1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  <a:r>
              <a:rPr lang="en-US" sz="2190" spc="19">
                <a:solidFill>
                  <a:srgbClr val="C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Historical </a:t>
            </a:r>
            <a:r>
              <a:rPr lang="en-US" sz="2190" spc="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rainfall, river, terrain and flood-event </a:t>
            </a:r>
            <a:r>
              <a:rPr lang="en-US" sz="2190" spc="19">
                <a:solidFill>
                  <a:srgbClr val="C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</a:t>
            </a:r>
            <a:r>
              <a:rPr lang="en-US" sz="2190" spc="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can train the models.</a:t>
            </a:r>
          </a:p>
          <a:p>
            <a:pPr algn="l">
              <a:lnSpc>
                <a:spcPts val="2388"/>
              </a:lnSpc>
            </a:pPr>
            <a:endParaRPr lang="en-US" sz="2190" spc="19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73010" lvl="1" indent="-236505" algn="l">
              <a:lnSpc>
                <a:spcPts val="2388"/>
              </a:lnSpc>
              <a:buFont typeface="Arial"/>
              <a:buChar char="•"/>
            </a:pPr>
            <a:r>
              <a:rPr lang="en-US" sz="2190" b="1" spc="1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Technical Feasibility : </a:t>
            </a:r>
            <a:r>
              <a:rPr lang="en-US" sz="2190" spc="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Python, XGBoost, LSTM, Node.js, all </a:t>
            </a:r>
            <a:r>
              <a:rPr lang="en-US" sz="2190" b="1" spc="19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open-source and proven tools</a:t>
            </a:r>
          </a:p>
          <a:p>
            <a:pPr algn="l">
              <a:lnSpc>
                <a:spcPts val="2388"/>
              </a:lnSpc>
            </a:pPr>
            <a:endParaRPr lang="en-US" sz="2190" b="1" spc="19">
              <a:solidFill>
                <a:srgbClr val="C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73010" lvl="1" indent="-236505" algn="l">
              <a:lnSpc>
                <a:spcPts val="2388"/>
              </a:lnSpc>
              <a:buFont typeface="Arial"/>
              <a:buChar char="•"/>
            </a:pPr>
            <a:r>
              <a:rPr lang="en-US" sz="2190" b="1" spc="1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Operational Feasibility :</a:t>
            </a:r>
            <a:r>
              <a:rPr lang="en-US" sz="2190" spc="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Automated alerts with human review only at dispatch;</a:t>
            </a:r>
            <a:r>
              <a:rPr lang="en-US" sz="2190" b="1" spc="19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minimal manpower needed.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23260" y="6548041"/>
            <a:ext cx="8124858" cy="3367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2858" lvl="1" indent="-216429" algn="l">
              <a:lnSpc>
                <a:spcPts val="2586"/>
              </a:lnSpc>
              <a:buFont typeface="Arial"/>
              <a:buChar char="•"/>
            </a:pPr>
            <a:r>
              <a:rPr lang="en-US" sz="2004" b="1" spc="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Modular Implementation</a:t>
            </a:r>
            <a:r>
              <a:rPr lang="en-US" sz="2004" b="1" u="sng" spc="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:</a:t>
            </a:r>
            <a:r>
              <a:rPr lang="en-US" sz="2004" spc="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004" b="1" spc="8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Phased deployment</a:t>
            </a:r>
            <a:r>
              <a:rPr lang="en-US" sz="2004" spc="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enables easy implementation and scaling.</a:t>
            </a:r>
          </a:p>
          <a:p>
            <a:pPr algn="l">
              <a:lnSpc>
                <a:spcPts val="1704"/>
              </a:lnSpc>
            </a:pPr>
            <a:endParaRPr lang="en-US" sz="2004" spc="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32858" lvl="1" indent="-216429" algn="l">
              <a:lnSpc>
                <a:spcPts val="2586"/>
              </a:lnSpc>
              <a:buFont typeface="Arial"/>
              <a:buChar char="•"/>
            </a:pPr>
            <a:r>
              <a:rPr lang="en-US" sz="2004" b="1" spc="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Cost-Effective Pilot :</a:t>
            </a:r>
            <a:r>
              <a:rPr lang="en-US" sz="2004" spc="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Existing datasets and cloud infrastructure keep initial costs low.</a:t>
            </a:r>
          </a:p>
          <a:p>
            <a:pPr algn="l">
              <a:lnSpc>
                <a:spcPts val="2105"/>
              </a:lnSpc>
            </a:pPr>
            <a:endParaRPr lang="en-US" sz="2004" spc="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32858" lvl="1" indent="-216429" algn="l">
              <a:lnSpc>
                <a:spcPts val="2586"/>
              </a:lnSpc>
              <a:buFont typeface="Arial"/>
              <a:buChar char="•"/>
            </a:pPr>
            <a:r>
              <a:rPr lang="en-US" sz="2004" b="1" spc="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Scalability :</a:t>
            </a:r>
            <a:r>
              <a:rPr lang="en-US" sz="2004" spc="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Can </a:t>
            </a:r>
            <a:r>
              <a:rPr lang="en-US" sz="2004" b="1" spc="8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expand from one district to multiple</a:t>
            </a:r>
            <a:r>
              <a:rPr lang="en-US" sz="2004" spc="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flood-prone regions.</a:t>
            </a:r>
          </a:p>
          <a:p>
            <a:pPr algn="l">
              <a:lnSpc>
                <a:spcPts val="2145"/>
              </a:lnSpc>
            </a:pPr>
            <a:endParaRPr lang="en-US" sz="2004" spc="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432858" lvl="1" indent="-216429" algn="l">
              <a:lnSpc>
                <a:spcPts val="2586"/>
              </a:lnSpc>
              <a:buFont typeface="Arial"/>
              <a:buChar char="•"/>
            </a:pPr>
            <a:r>
              <a:rPr lang="en-US" sz="2004" b="1" spc="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Future-Ready Platform :</a:t>
            </a:r>
            <a:r>
              <a:rPr lang="en-US" sz="2004" spc="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004" b="1" spc="8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Real-time sensors, satellite updates</a:t>
            </a:r>
            <a:r>
              <a:rPr lang="en-US" sz="2004" spc="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crowdsourced data can be integrated as the system expands.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691048" y="7011445"/>
            <a:ext cx="4932445" cy="32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363" lvl="1" indent="-205182" algn="l">
              <a:lnSpc>
                <a:spcPts val="2889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Flood monitoring</a:t>
            </a: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emergency planning for authorities.</a:t>
            </a:r>
          </a:p>
          <a:p>
            <a:pPr marL="410363" lvl="1" indent="-205182" algn="l">
              <a:lnSpc>
                <a:spcPts val="2889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Deployment across flood-prone and </a:t>
            </a:r>
            <a:r>
              <a:rPr lang="en-US" sz="1900" b="1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mountainous areas</a:t>
            </a: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marL="410363" lvl="1" indent="-205182" algn="l">
              <a:lnSpc>
                <a:spcPts val="2889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Risk information</a:t>
            </a: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response teams during extreme rainfall.</a:t>
            </a:r>
          </a:p>
          <a:p>
            <a:pPr marL="410363" lvl="1" indent="-205182" algn="l">
              <a:lnSpc>
                <a:spcPts val="2889"/>
              </a:lnSpc>
              <a:buFont typeface="Arial"/>
              <a:buChar char="•"/>
            </a:pPr>
            <a:r>
              <a:rPr lang="en-US" sz="1900" b="1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Identifying vulnerable roads</a:t>
            </a: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critical infrastructure.</a:t>
            </a:r>
          </a:p>
          <a:p>
            <a:pPr algn="l">
              <a:lnSpc>
                <a:spcPts val="2889"/>
              </a:lnSpc>
            </a:pPr>
            <a:endParaRPr lang="en-US" sz="19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grpSp>
        <p:nvGrpSpPr>
          <p:cNvPr id="56" name="Group 56"/>
          <p:cNvGrpSpPr/>
          <p:nvPr/>
        </p:nvGrpSpPr>
        <p:grpSpPr>
          <a:xfrm>
            <a:off x="0" y="9979323"/>
            <a:ext cx="19007171" cy="754856"/>
            <a:chOff x="0" y="0"/>
            <a:chExt cx="25342895" cy="100647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5342895" cy="1006475"/>
            </a:xfrm>
            <a:custGeom>
              <a:avLst/>
              <a:gdLst/>
              <a:ahLst/>
              <a:cxnLst/>
              <a:rect l="l" t="t" r="r" b="b"/>
              <a:pathLst>
                <a:path w="25342895" h="1006475">
                  <a:moveTo>
                    <a:pt x="0" y="0"/>
                  </a:moveTo>
                  <a:lnTo>
                    <a:pt x="25342895" y="0"/>
                  </a:lnTo>
                  <a:lnTo>
                    <a:pt x="25342895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7060239" y="9872754"/>
            <a:ext cx="4806001" cy="547688"/>
            <a:chOff x="0" y="0"/>
            <a:chExt cx="6408001" cy="7302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801592" y="9884073"/>
            <a:ext cx="4267200" cy="547688"/>
            <a:chOff x="0" y="0"/>
            <a:chExt cx="5689600" cy="73025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75192" y="-244319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468126" y="2248"/>
            <a:ext cx="2380454" cy="1124005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505672" y="2441227"/>
            <a:ext cx="4239517" cy="7010501"/>
            <a:chOff x="0" y="0"/>
            <a:chExt cx="5544913" cy="9169116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5544850" cy="9169116"/>
            </a:xfrm>
            <a:custGeom>
              <a:avLst/>
              <a:gdLst/>
              <a:ahLst/>
              <a:cxnLst/>
              <a:rect l="l" t="t" r="r" b="b"/>
              <a:pathLst>
                <a:path w="5544850" h="9169116">
                  <a:moveTo>
                    <a:pt x="0" y="0"/>
                  </a:moveTo>
                  <a:lnTo>
                    <a:pt x="5544850" y="0"/>
                  </a:lnTo>
                  <a:lnTo>
                    <a:pt x="5544850" y="9169116"/>
                  </a:lnTo>
                  <a:lnTo>
                    <a:pt x="0" y="9169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6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48646" y="2396091"/>
            <a:ext cx="4121885" cy="607167"/>
            <a:chOff x="0" y="0"/>
            <a:chExt cx="5431656" cy="8001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5431592" cy="800100"/>
            </a:xfrm>
            <a:custGeom>
              <a:avLst/>
              <a:gdLst/>
              <a:ahLst/>
              <a:cxnLst/>
              <a:rect l="l" t="t" r="r" b="b"/>
              <a:pathLst>
                <a:path w="5431592" h="800100">
                  <a:moveTo>
                    <a:pt x="0" y="0"/>
                  </a:moveTo>
                  <a:lnTo>
                    <a:pt x="5431592" y="0"/>
                  </a:lnTo>
                  <a:lnTo>
                    <a:pt x="5431592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56" r="-1557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720540" y="2311120"/>
            <a:ext cx="717929" cy="724535"/>
            <a:chOff x="0" y="0"/>
            <a:chExt cx="604042" cy="6096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604042" cy="609600"/>
            </a:xfrm>
            <a:custGeom>
              <a:avLst/>
              <a:gdLst/>
              <a:ahLst/>
              <a:cxnLst/>
              <a:rect l="l" t="t" r="r" b="b"/>
              <a:pathLst>
                <a:path w="604042" h="609600">
                  <a:moveTo>
                    <a:pt x="0" y="0"/>
                  </a:moveTo>
                  <a:lnTo>
                    <a:pt x="604042" y="0"/>
                  </a:lnTo>
                  <a:lnTo>
                    <a:pt x="60404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60" r="-460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527804" y="4177320"/>
            <a:ext cx="4092110" cy="602781"/>
            <a:chOff x="0" y="0"/>
            <a:chExt cx="5431656" cy="8001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5431592" cy="800100"/>
            </a:xfrm>
            <a:custGeom>
              <a:avLst/>
              <a:gdLst/>
              <a:ahLst/>
              <a:cxnLst/>
              <a:rect l="l" t="t" r="r" b="b"/>
              <a:pathLst>
                <a:path w="5431592" h="800100">
                  <a:moveTo>
                    <a:pt x="0" y="0"/>
                  </a:moveTo>
                  <a:lnTo>
                    <a:pt x="5431592" y="0"/>
                  </a:lnTo>
                  <a:lnTo>
                    <a:pt x="5431592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31" r="-1732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548646" y="4104639"/>
            <a:ext cx="741320" cy="748141"/>
            <a:chOff x="0" y="0"/>
            <a:chExt cx="604042" cy="6096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604042" cy="609600"/>
            </a:xfrm>
            <a:custGeom>
              <a:avLst/>
              <a:gdLst/>
              <a:ahLst/>
              <a:cxnLst/>
              <a:rect l="l" t="t" r="r" b="b"/>
              <a:pathLst>
                <a:path w="604042" h="609600">
                  <a:moveTo>
                    <a:pt x="0" y="0"/>
                  </a:moveTo>
                  <a:lnTo>
                    <a:pt x="604042" y="0"/>
                  </a:lnTo>
                  <a:lnTo>
                    <a:pt x="60404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36" r="-2036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548646" y="7625456"/>
            <a:ext cx="4037911" cy="594797"/>
            <a:chOff x="0" y="0"/>
            <a:chExt cx="5431656" cy="8001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5431592" cy="800100"/>
            </a:xfrm>
            <a:custGeom>
              <a:avLst/>
              <a:gdLst/>
              <a:ahLst/>
              <a:cxnLst/>
              <a:rect l="l" t="t" r="r" b="b"/>
              <a:pathLst>
                <a:path w="5431592" h="800100">
                  <a:moveTo>
                    <a:pt x="0" y="0"/>
                  </a:moveTo>
                  <a:lnTo>
                    <a:pt x="5431592" y="0"/>
                  </a:lnTo>
                  <a:lnTo>
                    <a:pt x="5431592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556" r="-1557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505672" y="7565142"/>
            <a:ext cx="708901" cy="715424"/>
            <a:chOff x="0" y="0"/>
            <a:chExt cx="604042" cy="6096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604042" cy="609600"/>
            </a:xfrm>
            <a:custGeom>
              <a:avLst/>
              <a:gdLst/>
              <a:ahLst/>
              <a:cxnLst/>
              <a:rect l="l" t="t" r="r" b="b"/>
              <a:pathLst>
                <a:path w="604042" h="609600">
                  <a:moveTo>
                    <a:pt x="0" y="0"/>
                  </a:moveTo>
                  <a:lnTo>
                    <a:pt x="604042" y="0"/>
                  </a:lnTo>
                  <a:lnTo>
                    <a:pt x="60404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36" r="-2036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36343" y="1318012"/>
            <a:ext cx="2784889" cy="823399"/>
            <a:chOff x="0" y="0"/>
            <a:chExt cx="3713186" cy="1097865"/>
          </a:xfrm>
        </p:grpSpPr>
        <p:grpSp>
          <p:nvGrpSpPr>
            <p:cNvPr id="30" name="Group 30"/>
            <p:cNvGrpSpPr/>
            <p:nvPr/>
          </p:nvGrpSpPr>
          <p:grpSpPr>
            <a:xfrm>
              <a:off x="396877" y="281390"/>
              <a:ext cx="2606037" cy="556821"/>
              <a:chOff x="0" y="0"/>
              <a:chExt cx="717004" cy="15319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17004" cy="153199"/>
              </a:xfrm>
              <a:custGeom>
                <a:avLst/>
                <a:gdLst/>
                <a:ahLst/>
                <a:cxnLst/>
                <a:rect l="l" t="t" r="r" b="b"/>
                <a:pathLst>
                  <a:path w="717004" h="153199">
                    <a:moveTo>
                      <a:pt x="28438" y="0"/>
                    </a:moveTo>
                    <a:lnTo>
                      <a:pt x="688566" y="0"/>
                    </a:lnTo>
                    <a:cubicBezTo>
                      <a:pt x="704272" y="0"/>
                      <a:pt x="717004" y="12732"/>
                      <a:pt x="717004" y="28438"/>
                    </a:cubicBezTo>
                    <a:lnTo>
                      <a:pt x="717004" y="124761"/>
                    </a:lnTo>
                    <a:cubicBezTo>
                      <a:pt x="717004" y="140467"/>
                      <a:pt x="704272" y="153199"/>
                      <a:pt x="688566" y="153199"/>
                    </a:cubicBezTo>
                    <a:lnTo>
                      <a:pt x="28438" y="153199"/>
                    </a:lnTo>
                    <a:cubicBezTo>
                      <a:pt x="12732" y="153199"/>
                      <a:pt x="0" y="140467"/>
                      <a:pt x="0" y="124761"/>
                    </a:cubicBezTo>
                    <a:lnTo>
                      <a:pt x="0" y="28438"/>
                    </a:lnTo>
                    <a:cubicBezTo>
                      <a:pt x="0" y="12732"/>
                      <a:pt x="12732" y="0"/>
                      <a:pt x="28438" y="0"/>
                    </a:cubicBezTo>
                    <a:close/>
                  </a:path>
                </a:pathLst>
              </a:custGeom>
              <a:solidFill>
                <a:srgbClr val="0C4A9E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717004" cy="1817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85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0"/>
              <a:ext cx="3713186" cy="1097865"/>
              <a:chOff x="0" y="0"/>
              <a:chExt cx="5171932" cy="152916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171932" cy="1529168"/>
              </a:xfrm>
              <a:custGeom>
                <a:avLst/>
                <a:gdLst/>
                <a:ahLst/>
                <a:cxnLst/>
                <a:rect l="l" t="t" r="r" b="b"/>
                <a:pathLst>
                  <a:path w="5171932" h="1529168">
                    <a:moveTo>
                      <a:pt x="0" y="0"/>
                    </a:moveTo>
                    <a:lnTo>
                      <a:pt x="5171932" y="0"/>
                    </a:lnTo>
                    <a:lnTo>
                      <a:pt x="5171932" y="1529168"/>
                    </a:lnTo>
                    <a:lnTo>
                      <a:pt x="0" y="15291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04889" r="-324321" b="-254382"/>
                </a:stretch>
              </a:blip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5171932" cy="15482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FFFFFF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IMPACTS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56791" y="252069"/>
              <a:ext cx="615462" cy="615462"/>
              <a:chOff x="0" y="0"/>
              <a:chExt cx="857250" cy="857250"/>
            </a:xfrm>
          </p:grpSpPr>
          <p:sp>
            <p:nvSpPr>
              <p:cNvPr id="37" name="Freeform 37" descr="image.png"/>
              <p:cNvSpPr/>
              <p:nvPr/>
            </p:nvSpPr>
            <p:spPr>
              <a:xfrm>
                <a:off x="0" y="0"/>
                <a:ext cx="85725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857250">
                    <a:moveTo>
                      <a:pt x="0" y="0"/>
                    </a:moveTo>
                    <a:lnTo>
                      <a:pt x="857250" y="0"/>
                    </a:lnTo>
                    <a:lnTo>
                      <a:pt x="857250" y="857250"/>
                    </a:lnTo>
                    <a:lnTo>
                      <a:pt x="0" y="8572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-1111" r="-1111"/>
                </a:stretch>
              </a:blipFill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286722" y="423031"/>
              <a:ext cx="355600" cy="273539"/>
              <a:chOff x="0" y="0"/>
              <a:chExt cx="495300" cy="381000"/>
            </a:xfrm>
          </p:grpSpPr>
          <p:sp>
            <p:nvSpPr>
              <p:cNvPr id="39" name="Freeform 39" descr="image.png"/>
              <p:cNvSpPr/>
              <p:nvPr/>
            </p:nvSpPr>
            <p:spPr>
              <a:xfrm>
                <a:off x="0" y="0"/>
                <a:ext cx="4953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381000">
                    <a:moveTo>
                      <a:pt x="0" y="0"/>
                    </a:moveTo>
                    <a:lnTo>
                      <a:pt x="495300" y="0"/>
                    </a:lnTo>
                    <a:lnTo>
                      <a:pt x="495300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2500" b="-2500"/>
                </a:stretch>
              </a:blipFill>
            </p:spPr>
          </p:sp>
        </p:grpSp>
      </p:grpSp>
      <p:grpSp>
        <p:nvGrpSpPr>
          <p:cNvPr id="40" name="Group 40"/>
          <p:cNvGrpSpPr/>
          <p:nvPr/>
        </p:nvGrpSpPr>
        <p:grpSpPr>
          <a:xfrm>
            <a:off x="497661" y="5888265"/>
            <a:ext cx="4037911" cy="594797"/>
            <a:chOff x="0" y="0"/>
            <a:chExt cx="5431656" cy="8001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5431592" cy="800100"/>
            </a:xfrm>
            <a:custGeom>
              <a:avLst/>
              <a:gdLst/>
              <a:ahLst/>
              <a:cxnLst/>
              <a:rect l="l" t="t" r="r" b="b"/>
              <a:pathLst>
                <a:path w="5431592" h="800100">
                  <a:moveTo>
                    <a:pt x="0" y="0"/>
                  </a:moveTo>
                  <a:lnTo>
                    <a:pt x="5431592" y="0"/>
                  </a:lnTo>
                  <a:lnTo>
                    <a:pt x="5431592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4A9E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1231605" y="5959037"/>
            <a:ext cx="2939002" cy="469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"/>
              </a:lnSpc>
            </a:pPr>
            <a:r>
              <a:rPr lang="en-US" sz="1453" b="1" spc="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FARMERS &amp; RURAL COMMUNITIES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48646" y="5842116"/>
            <a:ext cx="720046" cy="726671"/>
            <a:chOff x="0" y="0"/>
            <a:chExt cx="604042" cy="60960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604042" cy="609600"/>
            </a:xfrm>
            <a:custGeom>
              <a:avLst/>
              <a:gdLst/>
              <a:ahLst/>
              <a:cxnLst/>
              <a:rect l="l" t="t" r="r" b="b"/>
              <a:pathLst>
                <a:path w="604042" h="609600">
                  <a:moveTo>
                    <a:pt x="302021" y="0"/>
                  </a:moveTo>
                  <a:lnTo>
                    <a:pt x="302021" y="0"/>
                  </a:lnTo>
                  <a:cubicBezTo>
                    <a:pt x="468822" y="0"/>
                    <a:pt x="604042" y="135219"/>
                    <a:pt x="604042" y="302021"/>
                  </a:cubicBezTo>
                  <a:lnTo>
                    <a:pt x="604042" y="307579"/>
                  </a:lnTo>
                  <a:cubicBezTo>
                    <a:pt x="604042" y="474381"/>
                    <a:pt x="468822" y="609600"/>
                    <a:pt x="302021" y="609600"/>
                  </a:cubicBezTo>
                  <a:lnTo>
                    <a:pt x="302021" y="609600"/>
                  </a:lnTo>
                  <a:cubicBezTo>
                    <a:pt x="135219" y="609600"/>
                    <a:pt x="0" y="474381"/>
                    <a:pt x="0" y="307579"/>
                  </a:cubicBezTo>
                  <a:lnTo>
                    <a:pt x="0" y="302021"/>
                  </a:lnTo>
                  <a:cubicBezTo>
                    <a:pt x="0" y="135219"/>
                    <a:pt x="135219" y="0"/>
                    <a:pt x="302021" y="0"/>
                  </a:cubicBezTo>
                  <a:close/>
                </a:path>
              </a:pathLst>
            </a:custGeom>
            <a:solidFill>
              <a:srgbClr val="EFFCF3"/>
            </a:solidFill>
            <a:ln w="76200" cap="rnd">
              <a:solidFill>
                <a:srgbClr val="0054B7"/>
              </a:solidFill>
              <a:prstDash val="solid"/>
              <a:round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3824142" y="2019053"/>
            <a:ext cx="3829009" cy="1907456"/>
            <a:chOff x="0" y="0"/>
            <a:chExt cx="5544913" cy="276225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5544850" cy="2762250"/>
            </a:xfrm>
            <a:custGeom>
              <a:avLst/>
              <a:gdLst/>
              <a:ahLst/>
              <a:cxnLst/>
              <a:rect l="l" t="t" r="r" b="b"/>
              <a:pathLst>
                <a:path w="5544850" h="2762250">
                  <a:moveTo>
                    <a:pt x="0" y="0"/>
                  </a:moveTo>
                  <a:lnTo>
                    <a:pt x="5544850" y="0"/>
                  </a:lnTo>
                  <a:lnTo>
                    <a:pt x="5544850" y="2762250"/>
                  </a:lnTo>
                  <a:lnTo>
                    <a:pt x="0" y="276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03" r="-504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3850212" y="2045363"/>
            <a:ext cx="3776869" cy="460420"/>
            <a:chOff x="0" y="0"/>
            <a:chExt cx="5469408" cy="666750"/>
          </a:xfrm>
        </p:grpSpPr>
        <p:sp>
          <p:nvSpPr>
            <p:cNvPr id="48" name="Freeform 48" descr="image.png"/>
            <p:cNvSpPr/>
            <p:nvPr/>
          </p:nvSpPr>
          <p:spPr>
            <a:xfrm>
              <a:off x="0" y="0"/>
              <a:ext cx="5469345" cy="666750"/>
            </a:xfrm>
            <a:custGeom>
              <a:avLst/>
              <a:gdLst/>
              <a:ahLst/>
              <a:cxnLst/>
              <a:rect l="l" t="t" r="r" b="b"/>
              <a:pathLst>
                <a:path w="5469345" h="666750">
                  <a:moveTo>
                    <a:pt x="0" y="0"/>
                  </a:moveTo>
                  <a:lnTo>
                    <a:pt x="5469345" y="0"/>
                  </a:lnTo>
                  <a:lnTo>
                    <a:pt x="5469345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934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3876282" y="2505783"/>
            <a:ext cx="3849632" cy="6917454"/>
            <a:chOff x="0" y="0"/>
            <a:chExt cx="5574778" cy="10017392"/>
          </a:xfrm>
        </p:grpSpPr>
        <p:sp>
          <p:nvSpPr>
            <p:cNvPr id="50" name="Freeform 50" descr="image.png"/>
            <p:cNvSpPr/>
            <p:nvPr/>
          </p:nvSpPr>
          <p:spPr>
            <a:xfrm>
              <a:off x="0" y="0"/>
              <a:ext cx="5574714" cy="10017392"/>
            </a:xfrm>
            <a:custGeom>
              <a:avLst/>
              <a:gdLst/>
              <a:ahLst/>
              <a:cxnLst/>
              <a:rect l="l" t="t" r="r" b="b"/>
              <a:pathLst>
                <a:path w="5574714" h="10017392">
                  <a:moveTo>
                    <a:pt x="0" y="0"/>
                  </a:moveTo>
                  <a:lnTo>
                    <a:pt x="5574714" y="0"/>
                  </a:lnTo>
                  <a:lnTo>
                    <a:pt x="5574714" y="10017392"/>
                  </a:lnTo>
                  <a:lnTo>
                    <a:pt x="0" y="10017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90134" r="-190139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14168778" y="2074736"/>
            <a:ext cx="3264639" cy="37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2069" b="1" spc="1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SOCIAL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4866645" y="1116728"/>
            <a:ext cx="2875157" cy="1027105"/>
            <a:chOff x="0" y="0"/>
            <a:chExt cx="3833542" cy="1369474"/>
          </a:xfrm>
        </p:grpSpPr>
        <p:grpSp>
          <p:nvGrpSpPr>
            <p:cNvPr id="53" name="Group 53"/>
            <p:cNvGrpSpPr/>
            <p:nvPr/>
          </p:nvGrpSpPr>
          <p:grpSpPr>
            <a:xfrm>
              <a:off x="409741" y="383975"/>
              <a:ext cx="2690507" cy="574869"/>
              <a:chOff x="0" y="0"/>
              <a:chExt cx="717004" cy="153199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717004" cy="153199"/>
              </a:xfrm>
              <a:custGeom>
                <a:avLst/>
                <a:gdLst/>
                <a:ahLst/>
                <a:cxnLst/>
                <a:rect l="l" t="t" r="r" b="b"/>
                <a:pathLst>
                  <a:path w="717004" h="153199">
                    <a:moveTo>
                      <a:pt x="35139" y="0"/>
                    </a:moveTo>
                    <a:lnTo>
                      <a:pt x="681865" y="0"/>
                    </a:lnTo>
                    <a:cubicBezTo>
                      <a:pt x="691185" y="0"/>
                      <a:pt x="700122" y="3702"/>
                      <a:pt x="706712" y="10292"/>
                    </a:cubicBezTo>
                    <a:cubicBezTo>
                      <a:pt x="713302" y="16882"/>
                      <a:pt x="717004" y="25819"/>
                      <a:pt x="717004" y="35139"/>
                    </a:cubicBezTo>
                    <a:lnTo>
                      <a:pt x="717004" y="118060"/>
                    </a:lnTo>
                    <a:cubicBezTo>
                      <a:pt x="717004" y="127380"/>
                      <a:pt x="713302" y="136317"/>
                      <a:pt x="706712" y="142907"/>
                    </a:cubicBezTo>
                    <a:cubicBezTo>
                      <a:pt x="700122" y="149497"/>
                      <a:pt x="691185" y="153199"/>
                      <a:pt x="681865" y="153199"/>
                    </a:cubicBezTo>
                    <a:lnTo>
                      <a:pt x="35139" y="153199"/>
                    </a:lnTo>
                    <a:cubicBezTo>
                      <a:pt x="25819" y="153199"/>
                      <a:pt x="16882" y="149497"/>
                      <a:pt x="10292" y="142907"/>
                    </a:cubicBezTo>
                    <a:cubicBezTo>
                      <a:pt x="3702" y="136317"/>
                      <a:pt x="0" y="127380"/>
                      <a:pt x="0" y="118060"/>
                    </a:cubicBezTo>
                    <a:lnTo>
                      <a:pt x="0" y="35139"/>
                    </a:lnTo>
                    <a:cubicBezTo>
                      <a:pt x="0" y="25819"/>
                      <a:pt x="3702" y="16882"/>
                      <a:pt x="10292" y="10292"/>
                    </a:cubicBezTo>
                    <a:cubicBezTo>
                      <a:pt x="16882" y="3702"/>
                      <a:pt x="25819" y="0"/>
                      <a:pt x="35139" y="0"/>
                    </a:cubicBezTo>
                    <a:close/>
                  </a:path>
                </a:pathLst>
              </a:custGeom>
              <a:solidFill>
                <a:srgbClr val="15803D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0" y="-28575"/>
                <a:ext cx="717004" cy="181774"/>
              </a:xfrm>
              <a:prstGeom prst="rect">
                <a:avLst/>
              </a:prstGeom>
            </p:spPr>
            <p:txBody>
              <a:bodyPr lIns="41113" tIns="41113" rIns="41113" bIns="41113" rtlCol="0" anchor="ctr"/>
              <a:lstStyle/>
              <a:p>
                <a:pPr algn="ctr">
                  <a:lnSpc>
                    <a:spcPts val="2485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0" y="0"/>
              <a:ext cx="3833542" cy="1369474"/>
              <a:chOff x="0" y="0"/>
              <a:chExt cx="5171932" cy="184759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5171932" cy="1847593"/>
              </a:xfrm>
              <a:custGeom>
                <a:avLst/>
                <a:gdLst/>
                <a:ahLst/>
                <a:cxnLst/>
                <a:rect l="l" t="t" r="r" b="b"/>
                <a:pathLst>
                  <a:path w="5171932" h="1847593">
                    <a:moveTo>
                      <a:pt x="0" y="0"/>
                    </a:moveTo>
                    <a:lnTo>
                      <a:pt x="5171932" y="0"/>
                    </a:lnTo>
                    <a:lnTo>
                      <a:pt x="5171932" y="1847593"/>
                    </a:lnTo>
                    <a:lnTo>
                      <a:pt x="0" y="184759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577" r="-324321" b="-193306"/>
                </a:stretch>
              </a:blip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0" y="-19050"/>
                <a:ext cx="5171932" cy="186664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FFFFFF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BENEFITS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0" y="266421"/>
              <a:ext cx="771129" cy="778225"/>
              <a:chOff x="0" y="0"/>
              <a:chExt cx="849434" cy="857250"/>
            </a:xfrm>
          </p:grpSpPr>
          <p:sp>
            <p:nvSpPr>
              <p:cNvPr id="60" name="Freeform 60" descr="image.png"/>
              <p:cNvSpPr/>
              <p:nvPr/>
            </p:nvSpPr>
            <p:spPr>
              <a:xfrm>
                <a:off x="0" y="0"/>
                <a:ext cx="849434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849434" h="857250">
                    <a:moveTo>
                      <a:pt x="0" y="0"/>
                    </a:moveTo>
                    <a:lnTo>
                      <a:pt x="849434" y="0"/>
                    </a:lnTo>
                    <a:lnTo>
                      <a:pt x="849434" y="857250"/>
                    </a:lnTo>
                    <a:lnTo>
                      <a:pt x="0" y="8572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-1581" r="-1581"/>
                </a:stretch>
              </a:blipFill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205634" y="482595"/>
              <a:ext cx="359860" cy="345878"/>
              <a:chOff x="0" y="0"/>
              <a:chExt cx="396402" cy="381000"/>
            </a:xfrm>
          </p:grpSpPr>
          <p:sp>
            <p:nvSpPr>
              <p:cNvPr id="62" name="Freeform 62" descr="image.png"/>
              <p:cNvSpPr/>
              <p:nvPr/>
            </p:nvSpPr>
            <p:spPr>
              <a:xfrm>
                <a:off x="0" y="0"/>
                <a:ext cx="396402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96402" h="381000">
                    <a:moveTo>
                      <a:pt x="0" y="0"/>
                    </a:moveTo>
                    <a:lnTo>
                      <a:pt x="396402" y="0"/>
                    </a:lnTo>
                    <a:lnTo>
                      <a:pt x="396402" y="381000"/>
                    </a:lnTo>
                    <a:lnTo>
                      <a:pt x="0" y="381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 l="-345" r="-345"/>
                </a:stretch>
              </a:blipFill>
            </p:spPr>
          </p:sp>
        </p:grpSp>
      </p:grpSp>
      <p:grpSp>
        <p:nvGrpSpPr>
          <p:cNvPr id="63" name="Group 63"/>
          <p:cNvGrpSpPr/>
          <p:nvPr/>
        </p:nvGrpSpPr>
        <p:grpSpPr>
          <a:xfrm>
            <a:off x="13876282" y="3874788"/>
            <a:ext cx="3750799" cy="491922"/>
            <a:chOff x="0" y="0"/>
            <a:chExt cx="5083827" cy="666750"/>
          </a:xfrm>
        </p:grpSpPr>
        <p:sp>
          <p:nvSpPr>
            <p:cNvPr id="64" name="Freeform 64" descr="image.png"/>
            <p:cNvSpPr/>
            <p:nvPr/>
          </p:nvSpPr>
          <p:spPr>
            <a:xfrm>
              <a:off x="0" y="0"/>
              <a:ext cx="5083768" cy="666750"/>
            </a:xfrm>
            <a:custGeom>
              <a:avLst/>
              <a:gdLst/>
              <a:ahLst/>
              <a:cxnLst/>
              <a:rect l="l" t="t" r="r" b="b"/>
              <a:pathLst>
                <a:path w="5083768" h="666750">
                  <a:moveTo>
                    <a:pt x="0" y="0"/>
                  </a:moveTo>
                  <a:lnTo>
                    <a:pt x="5083768" y="0"/>
                  </a:lnTo>
                  <a:lnTo>
                    <a:pt x="5083768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934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3876282" y="5815939"/>
            <a:ext cx="3800717" cy="495664"/>
            <a:chOff x="0" y="0"/>
            <a:chExt cx="5112591" cy="666750"/>
          </a:xfrm>
        </p:grpSpPr>
        <p:sp>
          <p:nvSpPr>
            <p:cNvPr id="66" name="Freeform 66" descr="image.png"/>
            <p:cNvSpPr/>
            <p:nvPr/>
          </p:nvSpPr>
          <p:spPr>
            <a:xfrm>
              <a:off x="0" y="0"/>
              <a:ext cx="5112533" cy="666750"/>
            </a:xfrm>
            <a:custGeom>
              <a:avLst/>
              <a:gdLst/>
              <a:ahLst/>
              <a:cxnLst/>
              <a:rect l="l" t="t" r="r" b="b"/>
              <a:pathLst>
                <a:path w="5112533" h="666750">
                  <a:moveTo>
                    <a:pt x="0" y="0"/>
                  </a:moveTo>
                  <a:lnTo>
                    <a:pt x="5112533" y="0"/>
                  </a:lnTo>
                  <a:lnTo>
                    <a:pt x="5112533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934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3824142" y="7675022"/>
            <a:ext cx="3802939" cy="463599"/>
            <a:chOff x="0" y="0"/>
            <a:chExt cx="5469408" cy="666750"/>
          </a:xfrm>
        </p:grpSpPr>
        <p:sp>
          <p:nvSpPr>
            <p:cNvPr id="68" name="Freeform 68" descr="image.png"/>
            <p:cNvSpPr/>
            <p:nvPr/>
          </p:nvSpPr>
          <p:spPr>
            <a:xfrm>
              <a:off x="0" y="0"/>
              <a:ext cx="5469345" cy="666750"/>
            </a:xfrm>
            <a:custGeom>
              <a:avLst/>
              <a:gdLst/>
              <a:ahLst/>
              <a:cxnLst/>
              <a:rect l="l" t="t" r="r" b="b"/>
              <a:pathLst>
                <a:path w="5469345" h="666750">
                  <a:moveTo>
                    <a:pt x="0" y="0"/>
                  </a:moveTo>
                  <a:lnTo>
                    <a:pt x="5469345" y="0"/>
                  </a:lnTo>
                  <a:lnTo>
                    <a:pt x="5469345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7934"/>
            </a:solidFill>
          </p:spPr>
        </p:sp>
      </p:grpSp>
      <p:sp>
        <p:nvSpPr>
          <p:cNvPr id="69" name="TextBox 69"/>
          <p:cNvSpPr txBox="1"/>
          <p:nvPr/>
        </p:nvSpPr>
        <p:spPr>
          <a:xfrm>
            <a:off x="14273617" y="2679663"/>
            <a:ext cx="3160860" cy="31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2977" lvl="1" indent="-196489" algn="just">
              <a:lnSpc>
                <a:spcPts val="2274"/>
              </a:lnSpc>
              <a:buFont typeface="Arial"/>
              <a:buChar char="•"/>
            </a:pPr>
            <a:r>
              <a:rPr lang="en-US" sz="182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Timely last-mile alerts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876282" y="3016035"/>
            <a:ext cx="3849632" cy="31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2977" lvl="1" indent="-196489" algn="l">
              <a:lnSpc>
                <a:spcPts val="2274"/>
              </a:lnSpc>
              <a:buFont typeface="Arial"/>
              <a:buChar char="•"/>
            </a:pPr>
            <a:r>
              <a:rPr lang="en-US" sz="182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Better </a:t>
            </a:r>
            <a:r>
              <a:rPr lang="en-US" sz="1820" b="1">
                <a:solidFill>
                  <a:srgbClr val="96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community preparedness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936652" y="3325164"/>
            <a:ext cx="3558581" cy="34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6861" lvl="1" indent="-208431" algn="just">
              <a:lnSpc>
                <a:spcPts val="2412"/>
              </a:lnSpc>
              <a:buFont typeface="Arial"/>
              <a:buChar char="•"/>
            </a:pPr>
            <a:r>
              <a:rPr lang="en-US" sz="193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Explainable risk information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08123" y="3252196"/>
            <a:ext cx="4292595" cy="67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b="1">
                <a:solidFill>
                  <a:srgbClr val="0F172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Clear, timely alerts help residents prepare and evacuate when necessary.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53780" y="8394866"/>
            <a:ext cx="3911616" cy="1028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099" lvl="1" indent="-203549" algn="l">
              <a:lnSpc>
                <a:spcPts val="2640"/>
              </a:lnSpc>
              <a:buFont typeface="Arial"/>
              <a:buChar char="•"/>
            </a:pPr>
            <a:r>
              <a:rPr lang="en-US" sz="1885" b="1">
                <a:solidFill>
                  <a:srgbClr val="0F172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Risk-aware routing helps identify safer routes during flood conditions.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67605" y="4926398"/>
            <a:ext cx="4122365" cy="730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0466" lvl="1" indent="-215233" algn="l">
              <a:lnSpc>
                <a:spcPts val="2791"/>
              </a:lnSpc>
              <a:buFont typeface="Arial"/>
              <a:buChar char="•"/>
            </a:pPr>
            <a:r>
              <a:rPr lang="en-US" sz="1993" b="1">
                <a:solidFill>
                  <a:srgbClr val="0F172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Real-time risk dashboard enable faster evacuation orders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08123" y="6596993"/>
            <a:ext cx="3957315" cy="102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318" lvl="1" indent="-203159" algn="l">
              <a:lnSpc>
                <a:spcPts val="2635"/>
              </a:lnSpc>
              <a:buFont typeface="Arial"/>
              <a:buChar char="•"/>
            </a:pPr>
            <a:r>
              <a:rPr lang="en-US" sz="1881" b="1">
                <a:solidFill>
                  <a:srgbClr val="0F172A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Advance alerts minimise crop and livestock loss before flash flood onset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27309" y="5998038"/>
            <a:ext cx="962718" cy="44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4"/>
              </a:lnSpc>
            </a:pPr>
            <a:r>
              <a:rPr lang="en-US" sz="2832" b="1" spc="14">
                <a:solidFill>
                  <a:srgbClr val="00419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132225" y="3907459"/>
            <a:ext cx="3167434" cy="375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2062" b="1" spc="1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ECONOMICAL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4122090" y="6445569"/>
            <a:ext cx="3698880" cy="1143391"/>
            <a:chOff x="0" y="0"/>
            <a:chExt cx="4931840" cy="1524522"/>
          </a:xfrm>
        </p:grpSpPr>
        <p:sp>
          <p:nvSpPr>
            <p:cNvPr id="79" name="TextBox 79"/>
            <p:cNvSpPr txBox="1"/>
            <p:nvPr/>
          </p:nvSpPr>
          <p:spPr>
            <a:xfrm>
              <a:off x="0" y="-66675"/>
              <a:ext cx="4931840" cy="430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4363" lvl="1" indent="-197182" algn="l">
                <a:lnSpc>
                  <a:spcPts val="2593"/>
                </a:lnSpc>
                <a:buFont typeface="Arial"/>
                <a:buChar char="•"/>
              </a:pPr>
              <a:r>
                <a:rPr lang="en-US" sz="1826" b="1">
                  <a:solidFill>
                    <a:srgbClr val="96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Catchment-level monitoring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9357" y="514441"/>
              <a:ext cx="4813126" cy="430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4363" lvl="1" indent="-197182" algn="l">
                <a:lnSpc>
                  <a:spcPts val="2593"/>
                </a:lnSpc>
                <a:buFont typeface="Arial"/>
                <a:buChar char="•"/>
              </a:pPr>
              <a:r>
                <a:rPr lang="en-US" sz="1826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Planning of relief resources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9357" y="1094094"/>
              <a:ext cx="4005268" cy="430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4363" lvl="1" indent="-197182" algn="l">
                <a:lnSpc>
                  <a:spcPts val="2593"/>
                </a:lnSpc>
                <a:buFont typeface="Arial"/>
                <a:buChar char="•"/>
              </a:pPr>
              <a:r>
                <a:rPr lang="en-US" sz="182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Climate-resilient planning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4309544" y="5855595"/>
            <a:ext cx="3285253" cy="375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2127" b="1" spc="1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ENVIROMENTAL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326286" y="8265936"/>
            <a:ext cx="3579144" cy="31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63" lvl="1" indent="-197182" algn="l">
              <a:lnSpc>
                <a:spcPts val="2282"/>
              </a:lnSpc>
              <a:buFont typeface="Arial"/>
              <a:buChar char="•"/>
            </a:pPr>
            <a:r>
              <a:rPr lang="en-US" sz="1826" b="1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Adaptable to other hazards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309544" y="8595438"/>
            <a:ext cx="3352790" cy="31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63" lvl="1" indent="-197182" algn="l">
              <a:lnSpc>
                <a:spcPts val="2282"/>
              </a:lnSpc>
              <a:buFont typeface="Arial"/>
              <a:buChar char="•"/>
            </a:pPr>
            <a:r>
              <a:rPr lang="en-US" sz="182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Replicable across regions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4309544" y="8955384"/>
            <a:ext cx="3336047" cy="31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63" lvl="1" indent="-197182" algn="l">
              <a:lnSpc>
                <a:spcPts val="2282"/>
              </a:lnSpc>
              <a:buFont typeface="Arial"/>
              <a:buChar char="•"/>
            </a:pPr>
            <a:r>
              <a:rPr lang="en-US" sz="1826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National multi-hazard base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407292" y="7705986"/>
            <a:ext cx="2893511" cy="40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3"/>
              </a:lnSpc>
            </a:pPr>
            <a:r>
              <a:rPr lang="en-US" sz="2227" b="1" spc="1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SCALABILITY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4122090" y="4434633"/>
            <a:ext cx="4051719" cy="41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63" lvl="1" indent="-197182" algn="l">
              <a:lnSpc>
                <a:spcPts val="3324"/>
              </a:lnSpc>
              <a:buFont typeface="Arial"/>
              <a:buChar char="•"/>
            </a:pPr>
            <a:r>
              <a:rPr lang="en-US" sz="182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 </a:t>
            </a:r>
            <a:r>
              <a:rPr lang="en-US" sz="1826" b="1">
                <a:solidFill>
                  <a:srgbClr val="C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early protective action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4089999" y="4862988"/>
            <a:ext cx="4051719" cy="41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63" lvl="1" indent="-197182" algn="l">
              <a:lnSpc>
                <a:spcPts val="3324"/>
              </a:lnSpc>
              <a:buFont typeface="Arial"/>
              <a:buChar char="•"/>
            </a:pPr>
            <a:r>
              <a:rPr lang="en-US" sz="1826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Helps reduce avoidable losses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4122090" y="5252043"/>
            <a:ext cx="4051719" cy="41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63" lvl="1" indent="-197182" algn="l">
              <a:lnSpc>
                <a:spcPts val="3324"/>
              </a:lnSpc>
              <a:buFont typeface="Arial"/>
              <a:buChar char="•"/>
            </a:pPr>
            <a:r>
              <a:rPr lang="en-US" sz="182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affordable tech stack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93233" y="173190"/>
            <a:ext cx="2690471" cy="887647"/>
            <a:chOff x="0" y="0"/>
            <a:chExt cx="5689362" cy="1877049"/>
          </a:xfrm>
        </p:grpSpPr>
        <p:sp>
          <p:nvSpPr>
            <p:cNvPr id="91" name="Freeform 91" descr="Your startup LOGO"/>
            <p:cNvSpPr/>
            <p:nvPr/>
          </p:nvSpPr>
          <p:spPr>
            <a:xfrm>
              <a:off x="0" y="0"/>
              <a:ext cx="5689278" cy="1877062"/>
            </a:xfrm>
            <a:custGeom>
              <a:avLst/>
              <a:gdLst/>
              <a:ahLst/>
              <a:cxnLst/>
              <a:rect l="l" t="t" r="r" b="b"/>
              <a:pathLst>
                <a:path w="5689278" h="1877062">
                  <a:moveTo>
                    <a:pt x="0" y="938532"/>
                  </a:moveTo>
                  <a:cubicBezTo>
                    <a:pt x="0" y="420242"/>
                    <a:pt x="1273681" y="0"/>
                    <a:pt x="2844639" y="0"/>
                  </a:cubicBezTo>
                  <a:cubicBezTo>
                    <a:pt x="4415597" y="0"/>
                    <a:pt x="5689278" y="420242"/>
                    <a:pt x="5689278" y="938532"/>
                  </a:cubicBezTo>
                  <a:cubicBezTo>
                    <a:pt x="5689278" y="1456821"/>
                    <a:pt x="4415597" y="1877062"/>
                    <a:pt x="2844639" y="1877062"/>
                  </a:cubicBezTo>
                  <a:cubicBezTo>
                    <a:pt x="1273681" y="1877062"/>
                    <a:pt x="0" y="1456821"/>
                    <a:pt x="0" y="9385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5689362" cy="1896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INTELLIVERSE</a:t>
              </a:r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6353304" y="1385789"/>
            <a:ext cx="4983350" cy="46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933" b="1">
                <a:solidFill>
                  <a:srgbClr val="2F3C3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COMPARISION</a:t>
            </a:r>
          </a:p>
        </p:txBody>
      </p:sp>
      <p:sp>
        <p:nvSpPr>
          <p:cNvPr id="94" name="Freeform 94"/>
          <p:cNvSpPr/>
          <p:nvPr/>
        </p:nvSpPr>
        <p:spPr>
          <a:xfrm>
            <a:off x="7756559" y="7933321"/>
            <a:ext cx="2369916" cy="351662"/>
          </a:xfrm>
          <a:custGeom>
            <a:avLst/>
            <a:gdLst/>
            <a:ahLst/>
            <a:cxnLst/>
            <a:rect l="l" t="t" r="r" b="b"/>
            <a:pathLst>
              <a:path w="2369916" h="351662">
                <a:moveTo>
                  <a:pt x="0" y="0"/>
                </a:moveTo>
                <a:lnTo>
                  <a:pt x="2369917" y="0"/>
                </a:lnTo>
                <a:lnTo>
                  <a:pt x="2369917" y="351662"/>
                </a:lnTo>
                <a:lnTo>
                  <a:pt x="0" y="351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95" name="Group 95"/>
          <p:cNvGrpSpPr/>
          <p:nvPr/>
        </p:nvGrpSpPr>
        <p:grpSpPr>
          <a:xfrm>
            <a:off x="8773335" y="8096634"/>
            <a:ext cx="334806" cy="333598"/>
            <a:chOff x="0" y="0"/>
            <a:chExt cx="292125" cy="291071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92100" cy="291084"/>
            </a:xfrm>
            <a:custGeom>
              <a:avLst/>
              <a:gdLst/>
              <a:ahLst/>
              <a:cxnLst/>
              <a:rect l="l" t="t" r="r" b="b"/>
              <a:pathLst>
                <a:path w="292100" h="291084">
                  <a:moveTo>
                    <a:pt x="146050" y="0"/>
                  </a:moveTo>
                  <a:cubicBezTo>
                    <a:pt x="226695" y="0"/>
                    <a:pt x="292100" y="65151"/>
                    <a:pt x="292100" y="145542"/>
                  </a:cubicBezTo>
                  <a:cubicBezTo>
                    <a:pt x="292100" y="225933"/>
                    <a:pt x="226695" y="291084"/>
                    <a:pt x="146050" y="291084"/>
                  </a:cubicBezTo>
                  <a:cubicBezTo>
                    <a:pt x="65405" y="291084"/>
                    <a:pt x="0" y="225933"/>
                    <a:pt x="0" y="145542"/>
                  </a:cubicBezTo>
                  <a:cubicBezTo>
                    <a:pt x="0" y="65151"/>
                    <a:pt x="65405" y="0"/>
                    <a:pt x="146050" y="0"/>
                  </a:cubicBezTo>
                  <a:moveTo>
                    <a:pt x="145542" y="72771"/>
                  </a:moveTo>
                  <a:cubicBezTo>
                    <a:pt x="105410" y="72771"/>
                    <a:pt x="72771" y="105410"/>
                    <a:pt x="72771" y="145542"/>
                  </a:cubicBezTo>
                  <a:cubicBezTo>
                    <a:pt x="72771" y="185674"/>
                    <a:pt x="105410" y="218313"/>
                    <a:pt x="145542" y="218313"/>
                  </a:cubicBezTo>
                  <a:cubicBezTo>
                    <a:pt x="185674" y="218313"/>
                    <a:pt x="218313" y="185674"/>
                    <a:pt x="218313" y="145542"/>
                  </a:cubicBezTo>
                  <a:cubicBezTo>
                    <a:pt x="218313" y="105410"/>
                    <a:pt x="185674" y="72771"/>
                    <a:pt x="145542" y="72771"/>
                  </a:cubicBezTo>
                </a:path>
              </a:pathLst>
            </a:custGeom>
            <a:gradFill rotWithShape="1">
              <a:gsLst>
                <a:gs pos="0">
                  <a:srgbClr val="C8C8C8">
                    <a:alpha val="100000"/>
                  </a:srgbClr>
                </a:gs>
                <a:gs pos="100000">
                  <a:srgbClr val="A3A3A3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97" name="Freeform 97"/>
          <p:cNvSpPr/>
          <p:nvPr/>
        </p:nvSpPr>
        <p:spPr>
          <a:xfrm>
            <a:off x="8755956" y="8086212"/>
            <a:ext cx="366959" cy="378065"/>
          </a:xfrm>
          <a:custGeom>
            <a:avLst/>
            <a:gdLst/>
            <a:ahLst/>
            <a:cxnLst/>
            <a:rect l="l" t="t" r="r" b="b"/>
            <a:pathLst>
              <a:path w="366959" h="378065">
                <a:moveTo>
                  <a:pt x="0" y="0"/>
                </a:moveTo>
                <a:lnTo>
                  <a:pt x="366960" y="0"/>
                </a:lnTo>
                <a:lnTo>
                  <a:pt x="366960" y="378065"/>
                </a:lnTo>
                <a:lnTo>
                  <a:pt x="0" y="378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8272946" y="8393072"/>
            <a:ext cx="1334378" cy="1121416"/>
          </a:xfrm>
          <a:custGeom>
            <a:avLst/>
            <a:gdLst/>
            <a:ahLst/>
            <a:cxnLst/>
            <a:rect l="l" t="t" r="r" b="b"/>
            <a:pathLst>
              <a:path w="1334378" h="1121416">
                <a:moveTo>
                  <a:pt x="0" y="0"/>
                </a:moveTo>
                <a:lnTo>
                  <a:pt x="1334378" y="0"/>
                </a:lnTo>
                <a:lnTo>
                  <a:pt x="1334378" y="1121416"/>
                </a:lnTo>
                <a:lnTo>
                  <a:pt x="0" y="1121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99" name="Freeform 99"/>
          <p:cNvSpPr/>
          <p:nvPr/>
        </p:nvSpPr>
        <p:spPr>
          <a:xfrm>
            <a:off x="8262524" y="8382636"/>
            <a:ext cx="1358002" cy="1149508"/>
          </a:xfrm>
          <a:custGeom>
            <a:avLst/>
            <a:gdLst/>
            <a:ahLst/>
            <a:cxnLst/>
            <a:rect l="l" t="t" r="r" b="b"/>
            <a:pathLst>
              <a:path w="1358002" h="1149508">
                <a:moveTo>
                  <a:pt x="0" y="0"/>
                </a:moveTo>
                <a:lnTo>
                  <a:pt x="1358001" y="0"/>
                </a:lnTo>
                <a:lnTo>
                  <a:pt x="1358001" y="1149508"/>
                </a:lnTo>
                <a:lnTo>
                  <a:pt x="0" y="114950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grpSp>
        <p:nvGrpSpPr>
          <p:cNvPr id="100" name="Group 100"/>
          <p:cNvGrpSpPr/>
          <p:nvPr/>
        </p:nvGrpSpPr>
        <p:grpSpPr>
          <a:xfrm>
            <a:off x="9607324" y="7679647"/>
            <a:ext cx="1000780" cy="250195"/>
            <a:chOff x="0" y="0"/>
            <a:chExt cx="873201" cy="2183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873252" cy="218313"/>
            </a:xfrm>
            <a:custGeom>
              <a:avLst/>
              <a:gdLst/>
              <a:ahLst/>
              <a:cxnLst/>
              <a:rect l="l" t="t" r="r" b="b"/>
              <a:pathLst>
                <a:path w="873252" h="218313">
                  <a:moveTo>
                    <a:pt x="0" y="21844"/>
                  </a:moveTo>
                  <a:cubicBezTo>
                    <a:pt x="0" y="9779"/>
                    <a:pt x="9779" y="0"/>
                    <a:pt x="21844" y="0"/>
                  </a:cubicBezTo>
                  <a:lnTo>
                    <a:pt x="851408" y="0"/>
                  </a:lnTo>
                  <a:cubicBezTo>
                    <a:pt x="863473" y="0"/>
                    <a:pt x="873252" y="9779"/>
                    <a:pt x="873252" y="21844"/>
                  </a:cubicBezTo>
                  <a:cubicBezTo>
                    <a:pt x="873252" y="130302"/>
                    <a:pt x="785241" y="218313"/>
                    <a:pt x="676783" y="218313"/>
                  </a:cubicBezTo>
                  <a:lnTo>
                    <a:pt x="196469" y="218313"/>
                  </a:lnTo>
                  <a:cubicBezTo>
                    <a:pt x="88011" y="218313"/>
                    <a:pt x="0" y="130302"/>
                    <a:pt x="0" y="21844"/>
                  </a:cubicBezTo>
                </a:path>
              </a:pathLst>
            </a:custGeom>
            <a:gradFill rotWithShape="1">
              <a:gsLst>
                <a:gs pos="0">
                  <a:srgbClr val="AAD5BE">
                    <a:alpha val="100000"/>
                  </a:srgbClr>
                </a:gs>
                <a:gs pos="100000">
                  <a:srgbClr val="84B99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02" name="Freeform 102"/>
          <p:cNvSpPr/>
          <p:nvPr/>
        </p:nvSpPr>
        <p:spPr>
          <a:xfrm>
            <a:off x="9594122" y="7658105"/>
            <a:ext cx="1025801" cy="286336"/>
          </a:xfrm>
          <a:custGeom>
            <a:avLst/>
            <a:gdLst/>
            <a:ahLst/>
            <a:cxnLst/>
            <a:rect l="l" t="t" r="r" b="b"/>
            <a:pathLst>
              <a:path w="1025801" h="286336">
                <a:moveTo>
                  <a:pt x="0" y="0"/>
                </a:moveTo>
                <a:lnTo>
                  <a:pt x="1025800" y="0"/>
                </a:lnTo>
                <a:lnTo>
                  <a:pt x="1025800" y="286336"/>
                </a:lnTo>
                <a:lnTo>
                  <a:pt x="0" y="28633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grpSp>
        <p:nvGrpSpPr>
          <p:cNvPr id="103" name="Group 103"/>
          <p:cNvGrpSpPr/>
          <p:nvPr/>
        </p:nvGrpSpPr>
        <p:grpSpPr>
          <a:xfrm>
            <a:off x="7272151" y="7679647"/>
            <a:ext cx="1000780" cy="250195"/>
            <a:chOff x="0" y="0"/>
            <a:chExt cx="873201" cy="2183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873252" cy="218313"/>
            </a:xfrm>
            <a:custGeom>
              <a:avLst/>
              <a:gdLst/>
              <a:ahLst/>
              <a:cxnLst/>
              <a:rect l="l" t="t" r="r" b="b"/>
              <a:pathLst>
                <a:path w="873252" h="218313">
                  <a:moveTo>
                    <a:pt x="0" y="21844"/>
                  </a:moveTo>
                  <a:cubicBezTo>
                    <a:pt x="0" y="9779"/>
                    <a:pt x="9779" y="0"/>
                    <a:pt x="21844" y="0"/>
                  </a:cubicBezTo>
                  <a:lnTo>
                    <a:pt x="851408" y="0"/>
                  </a:lnTo>
                  <a:cubicBezTo>
                    <a:pt x="863473" y="0"/>
                    <a:pt x="873252" y="9779"/>
                    <a:pt x="873252" y="21844"/>
                  </a:cubicBezTo>
                  <a:cubicBezTo>
                    <a:pt x="873252" y="130302"/>
                    <a:pt x="785241" y="218313"/>
                    <a:pt x="676783" y="218313"/>
                  </a:cubicBezTo>
                  <a:lnTo>
                    <a:pt x="196469" y="218313"/>
                  </a:lnTo>
                  <a:cubicBezTo>
                    <a:pt x="88011" y="218313"/>
                    <a:pt x="0" y="130302"/>
                    <a:pt x="0" y="21844"/>
                  </a:cubicBezTo>
                </a:path>
              </a:pathLst>
            </a:custGeom>
            <a:gradFill rotWithShape="1">
              <a:gsLst>
                <a:gs pos="0">
                  <a:srgbClr val="DFCDA5">
                    <a:alpha val="100000"/>
                  </a:srgbClr>
                </a:gs>
                <a:gs pos="100000">
                  <a:srgbClr val="C1A974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05" name="Freeform 105"/>
          <p:cNvSpPr/>
          <p:nvPr/>
        </p:nvSpPr>
        <p:spPr>
          <a:xfrm>
            <a:off x="7236708" y="7642807"/>
            <a:ext cx="1081403" cy="319698"/>
          </a:xfrm>
          <a:custGeom>
            <a:avLst/>
            <a:gdLst/>
            <a:ahLst/>
            <a:cxnLst/>
            <a:rect l="l" t="t" r="r" b="b"/>
            <a:pathLst>
              <a:path w="1081403" h="319698">
                <a:moveTo>
                  <a:pt x="0" y="0"/>
                </a:moveTo>
                <a:lnTo>
                  <a:pt x="1081403" y="0"/>
                </a:lnTo>
                <a:lnTo>
                  <a:pt x="1081403" y="319698"/>
                </a:lnTo>
                <a:lnTo>
                  <a:pt x="0" y="319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06" name="Freeform 106"/>
          <p:cNvSpPr/>
          <p:nvPr/>
        </p:nvSpPr>
        <p:spPr>
          <a:xfrm>
            <a:off x="7456337" y="3421442"/>
            <a:ext cx="632438" cy="676919"/>
          </a:xfrm>
          <a:custGeom>
            <a:avLst/>
            <a:gdLst/>
            <a:ahLst/>
            <a:cxnLst/>
            <a:rect l="l" t="t" r="r" b="b"/>
            <a:pathLst>
              <a:path w="632438" h="676919">
                <a:moveTo>
                  <a:pt x="0" y="0"/>
                </a:moveTo>
                <a:lnTo>
                  <a:pt x="632437" y="0"/>
                </a:lnTo>
                <a:lnTo>
                  <a:pt x="632437" y="676920"/>
                </a:lnTo>
                <a:lnTo>
                  <a:pt x="0" y="676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07" name="TextBox 107"/>
          <p:cNvSpPr txBox="1"/>
          <p:nvPr/>
        </p:nvSpPr>
        <p:spPr>
          <a:xfrm>
            <a:off x="10635904" y="3092706"/>
            <a:ext cx="2240867" cy="582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Multi-Source Data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333384" y="3426304"/>
            <a:ext cx="1910981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Single Data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5333384" y="3759902"/>
            <a:ext cx="1910981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Source</a:t>
            </a:r>
          </a:p>
        </p:txBody>
      </p:sp>
      <p:sp>
        <p:nvSpPr>
          <p:cNvPr id="110" name="Freeform 110"/>
          <p:cNvSpPr/>
          <p:nvPr/>
        </p:nvSpPr>
        <p:spPr>
          <a:xfrm>
            <a:off x="7442436" y="4430562"/>
            <a:ext cx="660239" cy="660239"/>
          </a:xfrm>
          <a:custGeom>
            <a:avLst/>
            <a:gdLst/>
            <a:ahLst/>
            <a:cxnLst/>
            <a:rect l="l" t="t" r="r" b="b"/>
            <a:pathLst>
              <a:path w="660239" h="660239">
                <a:moveTo>
                  <a:pt x="0" y="0"/>
                </a:moveTo>
                <a:lnTo>
                  <a:pt x="660239" y="0"/>
                </a:lnTo>
                <a:lnTo>
                  <a:pt x="660239" y="660239"/>
                </a:lnTo>
                <a:lnTo>
                  <a:pt x="0" y="660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11" name="Freeform 111"/>
          <p:cNvSpPr/>
          <p:nvPr/>
        </p:nvSpPr>
        <p:spPr>
          <a:xfrm>
            <a:off x="9774814" y="4255430"/>
            <a:ext cx="663135" cy="688040"/>
          </a:xfrm>
          <a:custGeom>
            <a:avLst/>
            <a:gdLst/>
            <a:ahLst/>
            <a:cxnLst/>
            <a:rect l="l" t="t" r="r" b="b"/>
            <a:pathLst>
              <a:path w="663135" h="688040">
                <a:moveTo>
                  <a:pt x="0" y="0"/>
                </a:moveTo>
                <a:lnTo>
                  <a:pt x="663135" y="0"/>
                </a:lnTo>
                <a:lnTo>
                  <a:pt x="663135" y="688040"/>
                </a:lnTo>
                <a:lnTo>
                  <a:pt x="0" y="688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12" name="Freeform 112"/>
          <p:cNvSpPr/>
          <p:nvPr/>
        </p:nvSpPr>
        <p:spPr>
          <a:xfrm>
            <a:off x="7431316" y="2248296"/>
            <a:ext cx="674139" cy="676919"/>
          </a:xfrm>
          <a:custGeom>
            <a:avLst/>
            <a:gdLst/>
            <a:ahLst/>
            <a:cxnLst/>
            <a:rect l="l" t="t" r="r" b="b"/>
            <a:pathLst>
              <a:path w="674139" h="676919">
                <a:moveTo>
                  <a:pt x="0" y="0"/>
                </a:moveTo>
                <a:lnTo>
                  <a:pt x="674139" y="0"/>
                </a:lnTo>
                <a:lnTo>
                  <a:pt x="674139" y="676919"/>
                </a:lnTo>
                <a:lnTo>
                  <a:pt x="0" y="6769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13" name="TextBox 113"/>
          <p:cNvSpPr txBox="1"/>
          <p:nvPr/>
        </p:nvSpPr>
        <p:spPr>
          <a:xfrm>
            <a:off x="4920167" y="4593890"/>
            <a:ext cx="2324183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Alert-Focused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0731811" y="4345267"/>
            <a:ext cx="2144961" cy="582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Prediction + Dashboard</a:t>
            </a:r>
          </a:p>
        </p:txBody>
      </p:sp>
      <p:sp>
        <p:nvSpPr>
          <p:cNvPr id="115" name="Freeform 115"/>
          <p:cNvSpPr/>
          <p:nvPr/>
        </p:nvSpPr>
        <p:spPr>
          <a:xfrm>
            <a:off x="7445216" y="5420236"/>
            <a:ext cx="651898" cy="671359"/>
          </a:xfrm>
          <a:custGeom>
            <a:avLst/>
            <a:gdLst/>
            <a:ahLst/>
            <a:cxnLst/>
            <a:rect l="l" t="t" r="r" b="b"/>
            <a:pathLst>
              <a:path w="651898" h="671359">
                <a:moveTo>
                  <a:pt x="0" y="0"/>
                </a:moveTo>
                <a:lnTo>
                  <a:pt x="651899" y="0"/>
                </a:lnTo>
                <a:lnTo>
                  <a:pt x="651899" y="671360"/>
                </a:lnTo>
                <a:lnTo>
                  <a:pt x="0" y="67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16" name="Freeform 116"/>
          <p:cNvSpPr/>
          <p:nvPr/>
        </p:nvSpPr>
        <p:spPr>
          <a:xfrm>
            <a:off x="9777594" y="5506405"/>
            <a:ext cx="660239" cy="504553"/>
          </a:xfrm>
          <a:custGeom>
            <a:avLst/>
            <a:gdLst/>
            <a:ahLst/>
            <a:cxnLst/>
            <a:rect l="l" t="t" r="r" b="b"/>
            <a:pathLst>
              <a:path w="660239" h="504553">
                <a:moveTo>
                  <a:pt x="0" y="0"/>
                </a:moveTo>
                <a:lnTo>
                  <a:pt x="660239" y="0"/>
                </a:lnTo>
                <a:lnTo>
                  <a:pt x="660239" y="504553"/>
                </a:lnTo>
                <a:lnTo>
                  <a:pt x="0" y="504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17" name="TextBox 117"/>
          <p:cNvSpPr txBox="1"/>
          <p:nvPr/>
        </p:nvSpPr>
        <p:spPr>
          <a:xfrm>
            <a:off x="5462259" y="5427878"/>
            <a:ext cx="1782091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Authority-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462259" y="5761476"/>
            <a:ext cx="1782091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Centric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0635904" y="5427878"/>
            <a:ext cx="2271230" cy="582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Community + Authority</a:t>
            </a:r>
          </a:p>
        </p:txBody>
      </p:sp>
      <p:sp>
        <p:nvSpPr>
          <p:cNvPr id="120" name="Freeform 120"/>
          <p:cNvSpPr/>
          <p:nvPr/>
        </p:nvSpPr>
        <p:spPr>
          <a:xfrm>
            <a:off x="7453557" y="6598361"/>
            <a:ext cx="621317" cy="661389"/>
          </a:xfrm>
          <a:custGeom>
            <a:avLst/>
            <a:gdLst/>
            <a:ahLst/>
            <a:cxnLst/>
            <a:rect l="l" t="t" r="r" b="b"/>
            <a:pathLst>
              <a:path w="621317" h="661389">
                <a:moveTo>
                  <a:pt x="0" y="0"/>
                </a:moveTo>
                <a:lnTo>
                  <a:pt x="621317" y="0"/>
                </a:lnTo>
                <a:lnTo>
                  <a:pt x="621317" y="661388"/>
                </a:lnTo>
                <a:lnTo>
                  <a:pt x="0" y="661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9777594" y="6598943"/>
            <a:ext cx="660239" cy="663019"/>
          </a:xfrm>
          <a:custGeom>
            <a:avLst/>
            <a:gdLst/>
            <a:ahLst/>
            <a:cxnLst/>
            <a:rect l="l" t="t" r="r" b="b"/>
            <a:pathLst>
              <a:path w="660239" h="663019">
                <a:moveTo>
                  <a:pt x="0" y="0"/>
                </a:moveTo>
                <a:lnTo>
                  <a:pt x="660239" y="0"/>
                </a:lnTo>
                <a:lnTo>
                  <a:pt x="660239" y="663019"/>
                </a:lnTo>
                <a:lnTo>
                  <a:pt x="0" y="663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22" name="TextBox 122"/>
          <p:cNvSpPr txBox="1"/>
          <p:nvPr/>
        </p:nvSpPr>
        <p:spPr>
          <a:xfrm>
            <a:off x="10635904" y="6595464"/>
            <a:ext cx="2148163" cy="582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Replicable &amp; Scalable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9763694" y="3082284"/>
            <a:ext cx="676919" cy="679699"/>
          </a:xfrm>
          <a:custGeom>
            <a:avLst/>
            <a:gdLst/>
            <a:ahLst/>
            <a:cxnLst/>
            <a:rect l="l" t="t" r="r" b="b"/>
            <a:pathLst>
              <a:path w="676919" h="679699">
                <a:moveTo>
                  <a:pt x="0" y="0"/>
                </a:moveTo>
                <a:lnTo>
                  <a:pt x="676919" y="0"/>
                </a:lnTo>
                <a:lnTo>
                  <a:pt x="676919" y="679699"/>
                </a:lnTo>
                <a:lnTo>
                  <a:pt x="0" y="6796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124" name="TextBox 124"/>
          <p:cNvSpPr txBox="1"/>
          <p:nvPr/>
        </p:nvSpPr>
        <p:spPr>
          <a:xfrm>
            <a:off x="10635904" y="2258718"/>
            <a:ext cx="2390309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Localized Risk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9830402" y="8670902"/>
            <a:ext cx="272300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423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Pravah AI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5662659" y="2258718"/>
            <a:ext cx="1581691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Broad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5662659" y="2592316"/>
            <a:ext cx="1581691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Warnings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499244" y="8323403"/>
            <a:ext cx="2461660" cy="54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423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Existing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499244" y="8857169"/>
            <a:ext cx="2461660" cy="54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423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Solutions</a:t>
            </a:r>
          </a:p>
        </p:txBody>
      </p:sp>
      <p:sp>
        <p:nvSpPr>
          <p:cNvPr id="130" name="Freeform 130"/>
          <p:cNvSpPr/>
          <p:nvPr/>
        </p:nvSpPr>
        <p:spPr>
          <a:xfrm>
            <a:off x="9777594" y="2045363"/>
            <a:ext cx="688040" cy="710281"/>
          </a:xfrm>
          <a:custGeom>
            <a:avLst/>
            <a:gdLst/>
            <a:ahLst/>
            <a:cxnLst/>
            <a:rect l="l" t="t" r="r" b="b"/>
            <a:pathLst>
              <a:path w="688040" h="710281">
                <a:moveTo>
                  <a:pt x="0" y="0"/>
                </a:moveTo>
                <a:lnTo>
                  <a:pt x="688040" y="0"/>
                </a:lnTo>
                <a:lnTo>
                  <a:pt x="688040" y="710280"/>
                </a:lnTo>
                <a:lnTo>
                  <a:pt x="0" y="71028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131" name="TextBox 131"/>
          <p:cNvSpPr txBox="1"/>
          <p:nvPr/>
        </p:nvSpPr>
        <p:spPr>
          <a:xfrm>
            <a:off x="5914819" y="6595464"/>
            <a:ext cx="1329531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System-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914819" y="6929062"/>
            <a:ext cx="1329531" cy="33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7"/>
              </a:lnSpc>
            </a:pPr>
            <a:r>
              <a:rPr lang="en-US" sz="1956" b="1">
                <a:solidFill>
                  <a:srgbClr val="2F3C3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Specific</a:t>
            </a:r>
          </a:p>
        </p:txBody>
      </p:sp>
      <p:grpSp>
        <p:nvGrpSpPr>
          <p:cNvPr id="133" name="Group 133"/>
          <p:cNvGrpSpPr/>
          <p:nvPr/>
        </p:nvGrpSpPr>
        <p:grpSpPr>
          <a:xfrm>
            <a:off x="14016813" y="1886028"/>
            <a:ext cx="717929" cy="724535"/>
            <a:chOff x="0" y="0"/>
            <a:chExt cx="604042" cy="609600"/>
          </a:xfrm>
        </p:grpSpPr>
        <p:sp>
          <p:nvSpPr>
            <p:cNvPr id="134" name="Freeform 134" descr="image.png"/>
            <p:cNvSpPr/>
            <p:nvPr/>
          </p:nvSpPr>
          <p:spPr>
            <a:xfrm>
              <a:off x="0" y="0"/>
              <a:ext cx="604042" cy="609600"/>
            </a:xfrm>
            <a:custGeom>
              <a:avLst/>
              <a:gdLst/>
              <a:ahLst/>
              <a:cxnLst/>
              <a:rect l="l" t="t" r="r" b="b"/>
              <a:pathLst>
                <a:path w="604042" h="609600">
                  <a:moveTo>
                    <a:pt x="302021" y="0"/>
                  </a:moveTo>
                  <a:lnTo>
                    <a:pt x="302021" y="0"/>
                  </a:lnTo>
                  <a:cubicBezTo>
                    <a:pt x="468822" y="0"/>
                    <a:pt x="604042" y="135219"/>
                    <a:pt x="604042" y="302021"/>
                  </a:cubicBezTo>
                  <a:lnTo>
                    <a:pt x="604042" y="307579"/>
                  </a:lnTo>
                  <a:cubicBezTo>
                    <a:pt x="604042" y="474381"/>
                    <a:pt x="468822" y="609600"/>
                    <a:pt x="302021" y="609600"/>
                  </a:cubicBezTo>
                  <a:lnTo>
                    <a:pt x="302021" y="609600"/>
                  </a:lnTo>
                  <a:cubicBezTo>
                    <a:pt x="135219" y="609600"/>
                    <a:pt x="0" y="474381"/>
                    <a:pt x="0" y="307579"/>
                  </a:cubicBezTo>
                  <a:lnTo>
                    <a:pt x="0" y="302021"/>
                  </a:lnTo>
                  <a:cubicBezTo>
                    <a:pt x="0" y="135219"/>
                    <a:pt x="135219" y="0"/>
                    <a:pt x="302021" y="0"/>
                  </a:cubicBezTo>
                  <a:close/>
                </a:path>
              </a:pathLst>
            </a:custGeom>
            <a:solidFill>
              <a:srgbClr val="DEFFD8"/>
            </a:solidFill>
            <a:ln w="104775" cap="rnd">
              <a:solidFill>
                <a:srgbClr val="147934"/>
              </a:solidFill>
              <a:prstDash val="solid"/>
              <a:round/>
            </a:ln>
          </p:spPr>
        </p:sp>
      </p:grpSp>
      <p:grpSp>
        <p:nvGrpSpPr>
          <p:cNvPr id="135" name="Group 135"/>
          <p:cNvGrpSpPr/>
          <p:nvPr/>
        </p:nvGrpSpPr>
        <p:grpSpPr>
          <a:xfrm>
            <a:off x="13914653" y="3718375"/>
            <a:ext cx="717929" cy="724535"/>
            <a:chOff x="0" y="0"/>
            <a:chExt cx="604042" cy="609600"/>
          </a:xfrm>
        </p:grpSpPr>
        <p:sp>
          <p:nvSpPr>
            <p:cNvPr id="136" name="Freeform 136" descr="image.png"/>
            <p:cNvSpPr/>
            <p:nvPr/>
          </p:nvSpPr>
          <p:spPr>
            <a:xfrm>
              <a:off x="0" y="0"/>
              <a:ext cx="604042" cy="609600"/>
            </a:xfrm>
            <a:custGeom>
              <a:avLst/>
              <a:gdLst/>
              <a:ahLst/>
              <a:cxnLst/>
              <a:rect l="l" t="t" r="r" b="b"/>
              <a:pathLst>
                <a:path w="604042" h="609600">
                  <a:moveTo>
                    <a:pt x="302021" y="0"/>
                  </a:moveTo>
                  <a:lnTo>
                    <a:pt x="302021" y="0"/>
                  </a:lnTo>
                  <a:cubicBezTo>
                    <a:pt x="468822" y="0"/>
                    <a:pt x="604042" y="135219"/>
                    <a:pt x="604042" y="302021"/>
                  </a:cubicBezTo>
                  <a:lnTo>
                    <a:pt x="604042" y="307579"/>
                  </a:lnTo>
                  <a:cubicBezTo>
                    <a:pt x="604042" y="474381"/>
                    <a:pt x="468822" y="609600"/>
                    <a:pt x="302021" y="609600"/>
                  </a:cubicBezTo>
                  <a:lnTo>
                    <a:pt x="302021" y="609600"/>
                  </a:lnTo>
                  <a:cubicBezTo>
                    <a:pt x="135219" y="609600"/>
                    <a:pt x="0" y="474381"/>
                    <a:pt x="0" y="307579"/>
                  </a:cubicBezTo>
                  <a:lnTo>
                    <a:pt x="0" y="302021"/>
                  </a:lnTo>
                  <a:cubicBezTo>
                    <a:pt x="0" y="135219"/>
                    <a:pt x="135219" y="0"/>
                    <a:pt x="302021" y="0"/>
                  </a:cubicBezTo>
                  <a:close/>
                </a:path>
              </a:pathLst>
            </a:custGeom>
            <a:solidFill>
              <a:srgbClr val="DEFFD8"/>
            </a:solidFill>
            <a:ln w="104775" cap="rnd">
              <a:solidFill>
                <a:srgbClr val="147934"/>
              </a:solidFill>
              <a:prstDash val="solid"/>
              <a:round/>
            </a:ln>
          </p:spPr>
        </p:sp>
      </p:grpSp>
      <p:grpSp>
        <p:nvGrpSpPr>
          <p:cNvPr id="137" name="Group 137"/>
          <p:cNvGrpSpPr/>
          <p:nvPr/>
        </p:nvGrpSpPr>
        <p:grpSpPr>
          <a:xfrm>
            <a:off x="13914653" y="5755916"/>
            <a:ext cx="717929" cy="724535"/>
            <a:chOff x="0" y="0"/>
            <a:chExt cx="604042" cy="609600"/>
          </a:xfrm>
        </p:grpSpPr>
        <p:sp>
          <p:nvSpPr>
            <p:cNvPr id="138" name="Freeform 138" descr="image.png"/>
            <p:cNvSpPr/>
            <p:nvPr/>
          </p:nvSpPr>
          <p:spPr>
            <a:xfrm>
              <a:off x="0" y="0"/>
              <a:ext cx="604042" cy="609600"/>
            </a:xfrm>
            <a:custGeom>
              <a:avLst/>
              <a:gdLst/>
              <a:ahLst/>
              <a:cxnLst/>
              <a:rect l="l" t="t" r="r" b="b"/>
              <a:pathLst>
                <a:path w="604042" h="609600">
                  <a:moveTo>
                    <a:pt x="302021" y="0"/>
                  </a:moveTo>
                  <a:lnTo>
                    <a:pt x="302021" y="0"/>
                  </a:lnTo>
                  <a:cubicBezTo>
                    <a:pt x="468822" y="0"/>
                    <a:pt x="604042" y="135219"/>
                    <a:pt x="604042" y="302021"/>
                  </a:cubicBezTo>
                  <a:lnTo>
                    <a:pt x="604042" y="307579"/>
                  </a:lnTo>
                  <a:cubicBezTo>
                    <a:pt x="604042" y="474381"/>
                    <a:pt x="468822" y="609600"/>
                    <a:pt x="302021" y="609600"/>
                  </a:cubicBezTo>
                  <a:lnTo>
                    <a:pt x="302021" y="609600"/>
                  </a:lnTo>
                  <a:cubicBezTo>
                    <a:pt x="135219" y="609600"/>
                    <a:pt x="0" y="474381"/>
                    <a:pt x="0" y="307579"/>
                  </a:cubicBezTo>
                  <a:lnTo>
                    <a:pt x="0" y="302021"/>
                  </a:lnTo>
                  <a:cubicBezTo>
                    <a:pt x="0" y="135219"/>
                    <a:pt x="135219" y="0"/>
                    <a:pt x="302021" y="0"/>
                  </a:cubicBezTo>
                  <a:close/>
                </a:path>
              </a:pathLst>
            </a:custGeom>
            <a:solidFill>
              <a:srgbClr val="DEFFD8"/>
            </a:solidFill>
            <a:ln w="104775" cap="rnd">
              <a:solidFill>
                <a:srgbClr val="147934"/>
              </a:solidFill>
              <a:prstDash val="solid"/>
              <a:round/>
            </a:ln>
          </p:spPr>
        </p:sp>
      </p:grpSp>
      <p:grpSp>
        <p:nvGrpSpPr>
          <p:cNvPr id="139" name="Group 139"/>
          <p:cNvGrpSpPr/>
          <p:nvPr/>
        </p:nvGrpSpPr>
        <p:grpSpPr>
          <a:xfrm>
            <a:off x="13876282" y="7582174"/>
            <a:ext cx="717929" cy="724535"/>
            <a:chOff x="0" y="0"/>
            <a:chExt cx="604042" cy="609600"/>
          </a:xfrm>
        </p:grpSpPr>
        <p:sp>
          <p:nvSpPr>
            <p:cNvPr id="140" name="Freeform 140" descr="image.png"/>
            <p:cNvSpPr/>
            <p:nvPr/>
          </p:nvSpPr>
          <p:spPr>
            <a:xfrm>
              <a:off x="0" y="0"/>
              <a:ext cx="604042" cy="609600"/>
            </a:xfrm>
            <a:custGeom>
              <a:avLst/>
              <a:gdLst/>
              <a:ahLst/>
              <a:cxnLst/>
              <a:rect l="l" t="t" r="r" b="b"/>
              <a:pathLst>
                <a:path w="604042" h="609600">
                  <a:moveTo>
                    <a:pt x="302021" y="0"/>
                  </a:moveTo>
                  <a:lnTo>
                    <a:pt x="302021" y="0"/>
                  </a:lnTo>
                  <a:cubicBezTo>
                    <a:pt x="468822" y="0"/>
                    <a:pt x="604042" y="135219"/>
                    <a:pt x="604042" y="302021"/>
                  </a:cubicBezTo>
                  <a:lnTo>
                    <a:pt x="604042" y="307579"/>
                  </a:lnTo>
                  <a:cubicBezTo>
                    <a:pt x="604042" y="474381"/>
                    <a:pt x="468822" y="609600"/>
                    <a:pt x="302021" y="609600"/>
                  </a:cubicBezTo>
                  <a:lnTo>
                    <a:pt x="302021" y="609600"/>
                  </a:lnTo>
                  <a:cubicBezTo>
                    <a:pt x="135219" y="609600"/>
                    <a:pt x="0" y="474381"/>
                    <a:pt x="0" y="307579"/>
                  </a:cubicBezTo>
                  <a:lnTo>
                    <a:pt x="0" y="302021"/>
                  </a:lnTo>
                  <a:cubicBezTo>
                    <a:pt x="0" y="135219"/>
                    <a:pt x="135219" y="0"/>
                    <a:pt x="302021" y="0"/>
                  </a:cubicBezTo>
                  <a:close/>
                </a:path>
              </a:pathLst>
            </a:custGeom>
            <a:solidFill>
              <a:srgbClr val="DEFFD8"/>
            </a:solidFill>
            <a:ln w="104775" cap="rnd">
              <a:solidFill>
                <a:srgbClr val="147934"/>
              </a:solidFill>
              <a:prstDash val="solid"/>
              <a:round/>
            </a:ln>
          </p:spPr>
        </p:sp>
      </p:grpSp>
      <p:sp>
        <p:nvSpPr>
          <p:cNvPr id="141" name="TextBox 141"/>
          <p:cNvSpPr txBox="1"/>
          <p:nvPr/>
        </p:nvSpPr>
        <p:spPr>
          <a:xfrm>
            <a:off x="13753887" y="5893695"/>
            <a:ext cx="962718" cy="44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4"/>
              </a:lnSpc>
            </a:pPr>
            <a:r>
              <a:rPr lang="en-US" sz="2832" b="1" spc="14">
                <a:solidFill>
                  <a:srgbClr val="1479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13792258" y="3823929"/>
            <a:ext cx="962718" cy="44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4"/>
              </a:lnSpc>
            </a:pPr>
            <a:r>
              <a:rPr lang="en-US" sz="2832" b="1" spc="14">
                <a:solidFill>
                  <a:srgbClr val="1479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3876282" y="1977986"/>
            <a:ext cx="962718" cy="44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4"/>
              </a:lnSpc>
            </a:pPr>
            <a:r>
              <a:rPr lang="en-US" sz="2832" b="1" spc="14">
                <a:solidFill>
                  <a:srgbClr val="1479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3753887" y="7707616"/>
            <a:ext cx="962718" cy="44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4"/>
              </a:lnSpc>
            </a:pPr>
            <a:r>
              <a:rPr lang="en-US" sz="2832" b="1" spc="14">
                <a:solidFill>
                  <a:srgbClr val="1479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grpSp>
        <p:nvGrpSpPr>
          <p:cNvPr id="145" name="Group 145"/>
          <p:cNvGrpSpPr/>
          <p:nvPr/>
        </p:nvGrpSpPr>
        <p:grpSpPr>
          <a:xfrm>
            <a:off x="-779262" y="4012234"/>
            <a:ext cx="20746767" cy="7097076"/>
            <a:chOff x="0" y="0"/>
            <a:chExt cx="40095760" cy="13716000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40095760" cy="13716000"/>
            </a:xfrm>
            <a:custGeom>
              <a:avLst/>
              <a:gdLst/>
              <a:ahLst/>
              <a:cxnLst/>
              <a:rect l="l" t="t" r="r" b="b"/>
              <a:pathLst>
                <a:path w="40095760" h="13716000">
                  <a:moveTo>
                    <a:pt x="0" y="0"/>
                  </a:moveTo>
                  <a:lnTo>
                    <a:pt x="40095760" y="0"/>
                  </a:lnTo>
                  <a:lnTo>
                    <a:pt x="400957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alphaModFix amt="20999"/>
              </a:blip>
              <a:stretch>
                <a:fillRect t="-5349" b="-20351"/>
              </a:stretch>
            </a:blipFill>
          </p:spPr>
        </p:sp>
      </p:grpSp>
      <p:sp>
        <p:nvSpPr>
          <p:cNvPr id="147" name="AutoShape 147"/>
          <p:cNvSpPr/>
          <p:nvPr/>
        </p:nvSpPr>
        <p:spPr>
          <a:xfrm>
            <a:off x="13335776" y="1625884"/>
            <a:ext cx="0" cy="7906260"/>
          </a:xfrm>
          <a:prstGeom prst="line">
            <a:avLst/>
          </a:prstGeom>
          <a:ln w="28575" cap="flat">
            <a:solidFill>
              <a:srgbClr val="013F89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48" name="AutoShape 148"/>
          <p:cNvSpPr/>
          <p:nvPr/>
        </p:nvSpPr>
        <p:spPr>
          <a:xfrm>
            <a:off x="5095259" y="1470181"/>
            <a:ext cx="14288" cy="8124747"/>
          </a:xfrm>
          <a:prstGeom prst="line">
            <a:avLst/>
          </a:prstGeom>
          <a:ln w="28575" cap="flat">
            <a:solidFill>
              <a:srgbClr val="013F89"/>
            </a:solidFill>
            <a:prstDash val="sysDot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143500"/>
            <a:ext cx="19062462" cy="6840287"/>
          </a:xfrm>
          <a:custGeom>
            <a:avLst/>
            <a:gdLst/>
            <a:ahLst/>
            <a:cxnLst/>
            <a:rect l="l" t="t" r="r" b="b"/>
            <a:pathLst>
              <a:path w="19062462" h="6840287">
                <a:moveTo>
                  <a:pt x="0" y="0"/>
                </a:moveTo>
                <a:lnTo>
                  <a:pt x="19062462" y="0"/>
                </a:lnTo>
                <a:lnTo>
                  <a:pt x="19062462" y="6840287"/>
                </a:lnTo>
                <a:lnTo>
                  <a:pt x="0" y="6840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-423" t="-6202" r="-423" b="-1464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864" y="9704784"/>
            <a:ext cx="18288000" cy="754856"/>
            <a:chOff x="0" y="0"/>
            <a:chExt cx="24384000" cy="10064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3106400" y="9721862"/>
            <a:ext cx="4267200" cy="360350"/>
            <a:chOff x="0" y="0"/>
            <a:chExt cx="5689600" cy="480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480467"/>
            </a:xfrm>
            <a:custGeom>
              <a:avLst/>
              <a:gdLst/>
              <a:ahLst/>
              <a:cxnLst/>
              <a:rect l="l" t="t" r="r" b="b"/>
              <a:pathLst>
                <a:path w="5689600" h="480467">
                  <a:moveTo>
                    <a:pt x="0" y="0"/>
                  </a:moveTo>
                  <a:lnTo>
                    <a:pt x="5689600" y="0"/>
                  </a:lnTo>
                  <a:lnTo>
                    <a:pt x="5689600" y="480467"/>
                  </a:lnTo>
                  <a:lnTo>
                    <a:pt x="0" y="4804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744" b="-20673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499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721862"/>
            <a:ext cx="4806001" cy="360350"/>
            <a:chOff x="0" y="0"/>
            <a:chExt cx="6408001" cy="480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480467"/>
            </a:xfrm>
            <a:custGeom>
              <a:avLst/>
              <a:gdLst/>
              <a:ahLst/>
              <a:cxnLst/>
              <a:rect l="l" t="t" r="r" b="b"/>
              <a:pathLst>
                <a:path w="6408000" h="480467">
                  <a:moveTo>
                    <a:pt x="0" y="0"/>
                  </a:moveTo>
                  <a:lnTo>
                    <a:pt x="6408000" y="0"/>
                  </a:lnTo>
                  <a:lnTo>
                    <a:pt x="6408000" y="480467"/>
                  </a:lnTo>
                  <a:lnTo>
                    <a:pt x="0" y="4804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878" b="-23586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499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27366" y="2248"/>
            <a:ext cx="2917537" cy="1377605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8864" y="1557677"/>
            <a:ext cx="6666335" cy="379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296" b="1" spc="82">
                <a:solidFill>
                  <a:srgbClr val="0052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 VALIDATION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17403" y="2261564"/>
            <a:ext cx="6576901" cy="7168329"/>
            <a:chOff x="0" y="0"/>
            <a:chExt cx="8769201" cy="9557771"/>
          </a:xfrm>
        </p:grpSpPr>
        <p:sp>
          <p:nvSpPr>
            <p:cNvPr id="15" name="TextBox 15"/>
            <p:cNvSpPr txBox="1"/>
            <p:nvPr/>
          </p:nvSpPr>
          <p:spPr>
            <a:xfrm>
              <a:off x="325667" y="-38100"/>
              <a:ext cx="7787040" cy="4784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2700" lvl="1" indent="-236350" algn="l">
                <a:lnSpc>
                  <a:spcPts val="2846"/>
                </a:lnSpc>
                <a:buFont typeface="Arial"/>
                <a:buChar char="•"/>
              </a:pPr>
              <a:r>
                <a:rPr lang="en-US" sz="218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Gap Inadequate EWS in India: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0946" y="710301"/>
              <a:ext cx="6459893" cy="874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2"/>
                </a:lnSpc>
              </a:pPr>
              <a:r>
                <a:rPr lang="en-US" sz="2055" u="sng">
                  <a:solidFill>
                    <a:srgbClr val="008AFE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6" tooltip="https://indiaspend.com/explainers/why-indias-early-warning-systems-for-floods-and-cyclones-fall-short-825110"/>
                </a:rPr>
                <a:t>Why Existing Systems for Floods Fall Short</a:t>
              </a:r>
            </a:p>
            <a:p>
              <a:pPr algn="ctr">
                <a:lnSpc>
                  <a:spcPts val="2672"/>
                </a:lnSpc>
              </a:pPr>
              <a:endParaRPr lang="en-US" sz="2055" u="sng">
                <a:solidFill>
                  <a:srgbClr val="008AF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indiaspend.com/explainers/why-indias-early-warning-systems-for-floods-and-cyclones-fall-short-82511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4834" y="1525552"/>
              <a:ext cx="7293601" cy="434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2"/>
                </a:lnSpc>
              </a:pPr>
              <a:r>
                <a:rPr lang="en-US" sz="2055" u="sng">
                  <a:solidFill>
                    <a:srgbClr val="008AFE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7" tooltip="https://www.business-standard.com/india-news/flash-floods-is-india-ready-with-an-early-disaster-warning-system-125071500939_1.html"/>
                </a:rPr>
                <a:t>Is India Ready with an Early Warning System?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7507" y="2447365"/>
              <a:ext cx="4014128" cy="50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246" lvl="1" indent="-247623" algn="l">
                <a:lnSpc>
                  <a:spcPts val="2982"/>
                </a:lnSpc>
                <a:buFont typeface="Arial"/>
                <a:buChar char="•"/>
              </a:pPr>
              <a:r>
                <a:rPr lang="en-US" sz="229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Multi-Source Data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044989"/>
              <a:ext cx="7787040" cy="419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4"/>
                </a:lnSpc>
              </a:pPr>
              <a:r>
                <a:rPr lang="en-US" sz="1980" u="sng">
                  <a:solidFill>
                    <a:srgbClr val="008AFE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8" tooltip="https://www.nature.com/articles/s41598-025-27225-0"/>
                </a:rPr>
                <a:t>ML Techniques for Soil Moisture Modeling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7507" y="3703415"/>
              <a:ext cx="7787040" cy="419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4"/>
                </a:lnSpc>
              </a:pPr>
              <a:r>
                <a:rPr lang="en-US" sz="1980" u="sng">
                  <a:solidFill>
                    <a:srgbClr val="008AFE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9" tooltip="https://www.nature.com/articles/s41598-025-92739-6"/>
                </a:rPr>
                <a:t>Shallow Slope Stability Under Extreme Rainfall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593" y="7811133"/>
              <a:ext cx="6344446" cy="1007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246" lvl="1" indent="-247623" algn="l">
                <a:lnSpc>
                  <a:spcPts val="2982"/>
                </a:lnSpc>
                <a:buFont typeface="Arial"/>
                <a:buChar char="•"/>
              </a:pPr>
              <a:r>
                <a:rPr lang="en-US" sz="229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Evacuation Routing Engine Research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0946" y="9138330"/>
              <a:ext cx="8028255" cy="419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4"/>
                </a:lnSpc>
              </a:pPr>
              <a:r>
                <a:rPr lang="en-US" sz="1980" u="sng">
                  <a:solidFill>
                    <a:srgbClr val="008AFE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0" tooltip="https://ndrf.gov.in/en/operations/floods-2023"/>
                </a:rPr>
                <a:t>NDRF Flood Operations 2023 - Rescue &amp; Evacuation Data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1616" y="4421443"/>
              <a:ext cx="6344446" cy="50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246" lvl="1" indent="-247623" algn="l">
                <a:lnSpc>
                  <a:spcPts val="2982"/>
                </a:lnSpc>
                <a:buFont typeface="Arial"/>
                <a:buChar char="•"/>
              </a:pPr>
              <a:r>
                <a:rPr lang="en-US" sz="229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ML / XGBoost Prediction Engine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0946" y="5201146"/>
              <a:ext cx="8028255" cy="843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4"/>
                </a:lnSpc>
              </a:pPr>
              <a:r>
                <a:rPr lang="en-US" sz="1980" u="sng">
                  <a:solidFill>
                    <a:srgbClr val="008AFE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1" tooltip="https://egusphere.copernicus.org/preprints/2026/egusphere-2026-1591/"/>
                </a:rPr>
                <a:t>Outrunning Flash Floods: XGBoost &amp; Sparse Impact Reports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1616" y="6106926"/>
              <a:ext cx="6344446" cy="1007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5246" lvl="1" indent="-247623" algn="l">
                <a:lnSpc>
                  <a:spcPts val="2982"/>
                </a:lnSpc>
                <a:buFont typeface="Arial"/>
                <a:buChar char="•"/>
              </a:pPr>
              <a:r>
                <a:rPr lang="en-US" sz="229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Agentic Explanation &amp; Alert Layer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616" y="7248048"/>
              <a:ext cx="8028255" cy="419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74"/>
                </a:lnSpc>
              </a:pPr>
              <a:r>
                <a:rPr lang="en-US" sz="1980" u="sng">
                  <a:solidFill>
                    <a:srgbClr val="008AFE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12" tooltip="https://doi.org/10.3390/a18110713"/>
                </a:rPr>
                <a:t>Flood Management &amp; Risk Communication via LLMs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541817" y="1548396"/>
            <a:ext cx="6910738" cy="40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sz="2296" b="1">
                <a:solidFill>
                  <a:srgbClr val="0052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SOURCES 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6677" y="163894"/>
            <a:ext cx="2580319" cy="944764"/>
            <a:chOff x="0" y="0"/>
            <a:chExt cx="4548683" cy="1665465"/>
          </a:xfrm>
        </p:grpSpPr>
        <p:sp>
          <p:nvSpPr>
            <p:cNvPr id="29" name="Freeform 29" descr="Your startup LOGO"/>
            <p:cNvSpPr/>
            <p:nvPr/>
          </p:nvSpPr>
          <p:spPr>
            <a:xfrm>
              <a:off x="0" y="0"/>
              <a:ext cx="4548615" cy="1665478"/>
            </a:xfrm>
            <a:custGeom>
              <a:avLst/>
              <a:gdLst/>
              <a:ahLst/>
              <a:cxnLst/>
              <a:rect l="l" t="t" r="r" b="b"/>
              <a:pathLst>
                <a:path w="4548615" h="1665478">
                  <a:moveTo>
                    <a:pt x="0" y="832739"/>
                  </a:moveTo>
                  <a:cubicBezTo>
                    <a:pt x="0" y="372872"/>
                    <a:pt x="1018316" y="0"/>
                    <a:pt x="2274307" y="0"/>
                  </a:cubicBezTo>
                  <a:cubicBezTo>
                    <a:pt x="3530299" y="0"/>
                    <a:pt x="4548615" y="372872"/>
                    <a:pt x="4548615" y="832739"/>
                  </a:cubicBezTo>
                  <a:cubicBezTo>
                    <a:pt x="4548615" y="1292606"/>
                    <a:pt x="3530299" y="1665478"/>
                    <a:pt x="2274307" y="1665478"/>
                  </a:cubicBezTo>
                  <a:cubicBezTo>
                    <a:pt x="1018316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4548683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25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INTELLIVERSE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058225" y="1557677"/>
            <a:ext cx="4094585" cy="379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296" b="1" spc="82">
                <a:solidFill>
                  <a:srgbClr val="0052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PAPERS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29139" y="3866713"/>
            <a:ext cx="6055797" cy="78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236" lvl="1" indent="-237118" algn="ctr">
              <a:lnSpc>
                <a:spcPts val="3075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Lundberg, S. M. &amp; Lee, S. I. (2017). A Unified Approach to Interpreting Model Predictions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524615" y="2268243"/>
            <a:ext cx="4477727" cy="78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236" lvl="1" indent="-237118" algn="l">
              <a:lnSpc>
                <a:spcPts val="3075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India Meteorological Department (IMD): Rainfall &amp; Weather Data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51232" y="5470170"/>
            <a:ext cx="5908571" cy="78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236" lvl="1" indent="-237118" algn="ctr">
              <a:lnSpc>
                <a:spcPts val="3075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Farr, T. G. et al. (2007). The Shuttle Radar Topography Mission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35723" y="7158703"/>
            <a:ext cx="6452000" cy="117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236" lvl="1" indent="-237118" algn="ctr">
              <a:lnSpc>
                <a:spcPts val="3075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Sadkou et al. (2024): A review of flash-floods management: From hydrological modeling to crisis management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35723" y="2268243"/>
            <a:ext cx="5495869" cy="746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647" lvl="1" indent="-226323" algn="ctr">
              <a:lnSpc>
                <a:spcPts val="2935"/>
              </a:lnSpc>
              <a:buFont typeface="Arial"/>
              <a:buChar char="•"/>
            </a:pPr>
            <a:r>
              <a:rPr lang="en-US" sz="209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Chen, T. &amp; Guestrin, C. (2016). XGBoost: A Scalable Tree Boosting System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76608" y="3196066"/>
            <a:ext cx="4392606" cy="37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5"/>
              </a:lnSpc>
            </a:pPr>
            <a:r>
              <a:rPr lang="en-US" sz="2096" u="sng">
                <a:solidFill>
                  <a:srgbClr val="008AF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 tooltip="https://doi.org/10.1145/2939672.2939785"/>
              </a:rPr>
              <a:t>Link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97579" y="4830096"/>
            <a:ext cx="4392606" cy="37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5"/>
              </a:lnSpc>
            </a:pPr>
            <a:r>
              <a:rPr lang="en-US" sz="2096" u="sng">
                <a:solidFill>
                  <a:srgbClr val="008AF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 tooltip="https://arxiv.org/abs/1705.07874"/>
              </a:rPr>
              <a:t>Link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97579" y="6519277"/>
            <a:ext cx="4392606" cy="37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5"/>
              </a:lnSpc>
            </a:pPr>
            <a:r>
              <a:rPr lang="en-US" sz="2096" u="sng">
                <a:solidFill>
                  <a:srgbClr val="008AF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 tooltip="https://doi.org/10.1029/2005RG000183"/>
              </a:rPr>
              <a:t>Link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97579" y="8512610"/>
            <a:ext cx="4392606" cy="37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5"/>
              </a:lnSpc>
            </a:pPr>
            <a:r>
              <a:rPr lang="en-US" sz="2096" u="sng">
                <a:solidFill>
                  <a:srgbClr val="008AF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 tooltip="https://www.preventionweb.net/publication/review-flash-floods-management-hydrological-modeling-crisis-management"/>
              </a:rPr>
              <a:t>Link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635826" y="3231626"/>
            <a:ext cx="4392606" cy="37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5"/>
              </a:lnSpc>
            </a:pPr>
            <a:r>
              <a:rPr lang="en-US" sz="2096" u="sng">
                <a:solidFill>
                  <a:srgbClr val="008AF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7" tooltip="https://mausam.imd.gov.in"/>
              </a:rPr>
              <a:t>Link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593265" y="3886466"/>
            <a:ext cx="4477727" cy="78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236" lvl="1" indent="-237118" algn="ctr">
              <a:lnSpc>
                <a:spcPts val="3075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ISRO Bhuvan: Satellite &amp; Geospatial Data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652297" y="4849849"/>
            <a:ext cx="4392606" cy="37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5"/>
              </a:lnSpc>
            </a:pPr>
            <a:r>
              <a:rPr lang="en-US" sz="2096" u="sng">
                <a:solidFill>
                  <a:srgbClr val="008AF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 tooltip="https://bhuvan.nrsc.gov.in"/>
              </a:rPr>
              <a:t>Link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692715" y="5406196"/>
            <a:ext cx="4477727" cy="78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236" lvl="1" indent="-237118" algn="ctr">
              <a:lnSpc>
                <a:spcPts val="3075"/>
              </a:lnSpc>
              <a:buFont typeface="Arial"/>
              <a:buChar char="•"/>
            </a:pPr>
            <a:r>
              <a:rPr lang="en-US" sz="219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NDMA: Disaster Management &amp; Flood Risk Information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800883" y="6519277"/>
            <a:ext cx="4392606" cy="37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5"/>
              </a:lnSpc>
            </a:pPr>
            <a:r>
              <a:rPr lang="en-US" sz="2096" u="sng">
                <a:solidFill>
                  <a:srgbClr val="008AF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9" tooltip="https://ndma.gov.in"/>
              </a:rPr>
              <a:t>Link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647488" y="7766311"/>
            <a:ext cx="4402224" cy="162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2585" lvl="1" indent="-196292" algn="ctr">
              <a:lnSpc>
                <a:spcPts val="2545"/>
              </a:lnSpc>
              <a:buFont typeface="Arial"/>
              <a:buChar char="•"/>
            </a:pPr>
            <a:r>
              <a:rPr lang="en-US" sz="18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Uttarkashi, Uttarakhand: Flash-Flood Case Study</a:t>
            </a:r>
          </a:p>
          <a:p>
            <a:pPr marL="392585" lvl="1" indent="-196292" algn="ctr">
              <a:lnSpc>
                <a:spcPts val="2545"/>
              </a:lnSpc>
              <a:buFont typeface="Arial"/>
              <a:buChar char="•"/>
            </a:pPr>
            <a:r>
              <a:rPr lang="en-US" sz="18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Assam: Flood-Prone Regional Case Study </a:t>
            </a:r>
          </a:p>
          <a:p>
            <a:pPr algn="ctr">
              <a:lnSpc>
                <a:spcPts val="2545"/>
              </a:lnSpc>
            </a:pPr>
            <a:endParaRPr lang="en-US" sz="181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13383152" y="1766544"/>
            <a:ext cx="0" cy="7953980"/>
          </a:xfrm>
          <a:prstGeom prst="line">
            <a:avLst/>
          </a:prstGeom>
          <a:ln w="28575" cap="flat">
            <a:solidFill>
              <a:srgbClr val="013F89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8" name="AutoShape 48"/>
          <p:cNvSpPr/>
          <p:nvPr/>
        </p:nvSpPr>
        <p:spPr>
          <a:xfrm>
            <a:off x="6754761" y="1766544"/>
            <a:ext cx="0" cy="8173848"/>
          </a:xfrm>
          <a:prstGeom prst="line">
            <a:avLst/>
          </a:prstGeom>
          <a:ln w="28575" cap="flat">
            <a:solidFill>
              <a:srgbClr val="013F89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49" name="Group 49"/>
          <p:cNvGrpSpPr/>
          <p:nvPr/>
        </p:nvGrpSpPr>
        <p:grpSpPr>
          <a:xfrm>
            <a:off x="2438637" y="52044"/>
            <a:ext cx="13056177" cy="1714500"/>
            <a:chOff x="0" y="0"/>
            <a:chExt cx="17408236" cy="2286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7408237" cy="2286000"/>
            </a:xfrm>
            <a:custGeom>
              <a:avLst/>
              <a:gdLst/>
              <a:ahLst/>
              <a:cxnLst/>
              <a:rect l="l" t="t" r="r" b="b"/>
              <a:pathLst>
                <a:path w="17408237" h="2286000">
                  <a:moveTo>
                    <a:pt x="0" y="0"/>
                  </a:moveTo>
                  <a:lnTo>
                    <a:pt x="17408237" y="0"/>
                  </a:lnTo>
                  <a:lnTo>
                    <a:pt x="1740823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r="-26064" b="-137056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14300"/>
              <a:ext cx="17408236" cy="2400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580"/>
                </a:lnSpc>
              </a:pPr>
              <a:r>
                <a:rPr lang="en-US" sz="4700" b="1" spc="16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 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4321181" y="7253062"/>
            <a:ext cx="4529906" cy="33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5"/>
              </a:lnSpc>
            </a:pPr>
            <a:r>
              <a:rPr lang="en-US" sz="1918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OTHER DATA STUDIED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1228</Words>
  <Application>Microsoft Office PowerPoint</Application>
  <PresentationFormat>Custom</PresentationFormat>
  <Paragraphs>229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8" baseType="lpstr">
      <vt:lpstr>Times New Roman MT</vt:lpstr>
      <vt:lpstr>Calibri</vt:lpstr>
      <vt:lpstr>Shantell Sans Bold</vt:lpstr>
      <vt:lpstr>Times New Roman MT Medium</vt:lpstr>
      <vt:lpstr>Times New Roman Bold</vt:lpstr>
      <vt:lpstr>Roboto</vt:lpstr>
      <vt:lpstr>Waterlily</vt:lpstr>
      <vt:lpstr>Garamond Bold</vt:lpstr>
      <vt:lpstr>Arial Bold</vt:lpstr>
      <vt:lpstr>Montserrat Bold</vt:lpstr>
      <vt:lpstr>Arimo</vt:lpstr>
      <vt:lpstr>Roboto Bold</vt:lpstr>
      <vt:lpstr>Arial</vt:lpstr>
      <vt:lpstr>Arimo Bold</vt:lpstr>
      <vt:lpstr>Barlow Condensed Semi-Bold</vt:lpstr>
      <vt:lpstr>Barlow Condensed Semi-Bold Italics</vt:lpstr>
      <vt:lpstr>Inter Bold</vt:lpstr>
      <vt:lpstr>Oswald Bold</vt:lpstr>
      <vt:lpstr>Times New Roman</vt:lpstr>
      <vt:lpstr>Inter</vt:lpstr>
      <vt:lpstr>Times New Roman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Pravah AI SIH2026-IDEA-Presentation-Format (1).pptx</dc:title>
  <dc:creator>Vipin Vishwakarma</dc:creator>
  <cp:lastModifiedBy>Vipin Vishwakarma</cp:lastModifiedBy>
  <cp:revision>2</cp:revision>
  <dcterms:created xsi:type="dcterms:W3CDTF">2006-08-16T00:00:00Z</dcterms:created>
  <dcterms:modified xsi:type="dcterms:W3CDTF">2026-09-06T12:16:55Z</dcterms:modified>
  <dc:identifier>DAHT7Gr9gUw</dc:identifier>
</cp:coreProperties>
</file>